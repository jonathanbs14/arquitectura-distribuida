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72" r:id="rId6"/>
    <p:sldId id="260" r:id="rId7"/>
    <p:sldId id="261" r:id="rId8"/>
    <p:sldId id="273" r:id="rId9"/>
    <p:sldId id="262" r:id="rId10"/>
    <p:sldId id="263" r:id="rId11"/>
    <p:sldId id="264" r:id="rId12"/>
    <p:sldId id="265" r:id="rId13"/>
    <p:sldId id="271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5229" autoAdjust="0"/>
  </p:normalViewPr>
  <p:slideViewPr>
    <p:cSldViewPr snapToGrid="0" snapToObjects="1">
      <p:cViewPr varScale="1">
        <p:scale>
          <a:sx n="70" d="100"/>
          <a:sy n="70" d="100"/>
        </p:scale>
        <p:origin x="113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Visuals generated with Microsoft Copilot where used.
Content supplied by the user.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Visuals generated with Microsoft Copilot where used.
Content supplied by the user.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Visuals generated with Microsoft Copilot where used.
Content supplied by the user.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Visuals generated with Microsoft Copilot where used.
Content supplied by the user.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Visuals generated with Microsoft Copilot where used.
Content supplied by the user.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Visuals generated with Microsoft Copilot where used.
Content supplied by the user.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arquitectura-sistemas-distribuidos.md.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Visuals generated with Microsoft Copilot where used.
Content supplied by the user.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Visuals generated with Microsoft Copilot where used.
Content supplied by the user.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Visuals generated with Microsoft Copilot where used.
Content supplied by the user.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Visuals generated with Microsoft Copilot where used.
Content supplied by the user.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detalle-implementacion.md y guia-descarga-y-pruebas-endpoints.md.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Visuals generated with Microsoft Copilot where used.
Content supplied by the user.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Visuals generated with Microsoft Copilot where used.
Content supplied by the user.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Visuals generated with Microsoft Copilot where used.
Content supplied by the user.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Visuals generated with Microsoft Copilot where used.
Content supplied by the user.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Visuals generated with Microsoft Copilot where used.
Content supplied by the user.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C7C8"/>
          </a:solidFill>
          <a:ln w="12700">
            <a:solidFill>
              <a:srgbClr val="16C7C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DE CRÉDITO DISTRIBUIDO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680960" y="651052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 DE SOFTWARE · OCTUBRE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194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C9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5087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194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C9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generated_image_2685216D4617_06.png"/>
          <p:cNvPicPr>
            <a:picLocks noChangeAspect="1"/>
          </p:cNvPicPr>
          <p:nvPr/>
        </p:nvPicPr>
        <p:blipFill>
          <a:blip r:embed="rId3"/>
          <a:srcRect l="19853" r="19853"/>
          <a:stretch/>
        </p:blipFill>
        <p:spPr>
          <a:xfrm>
            <a:off x="5989320" y="0"/>
            <a:ext cx="620237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0" y="0"/>
            <a:ext cx="1188720" cy="6858000"/>
          </a:xfrm>
          <a:prstGeom prst="rect">
            <a:avLst/>
          </a:prstGeom>
          <a:solidFill>
            <a:srgbClr val="071B33">
              <a:alpha val="82000"/>
            </a:srgbClr>
          </a:solidFill>
          <a:ln w="12700">
            <a:solidFill>
              <a:srgbClr val="071B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1"/>
          <p:cNvSpPr/>
          <p:nvPr/>
        </p:nvSpPr>
        <p:spPr>
          <a:xfrm>
            <a:off x="640080" y="6217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6C7C8"/>
                </a:solidFill>
              </a:rPr>
              <a:t>TRABAJO FINAL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21792" y="1234440"/>
            <a:ext cx="5166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Sistema de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Crédito Distribuido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58368" y="3035808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6E5F0"/>
                </a:solidFill>
              </a:rPr>
              <a:t>Arquitectura de microservicios orientada a resiliencia, seguridad y evolución independiente.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58368" y="4187952"/>
            <a:ext cx="1234440" cy="1"/>
          </a:xfrm>
          <a:prstGeom prst="line">
            <a:avLst/>
          </a:prstGeom>
          <a:noFill/>
          <a:ln w="50800">
            <a:solidFill>
              <a:srgbClr val="16C7C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5"/>
          <p:cNvSpPr/>
          <p:nvPr/>
        </p:nvSpPr>
        <p:spPr>
          <a:xfrm>
            <a:off x="658368" y="448056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Autor: Jonathan </a:t>
            </a:r>
            <a:r>
              <a:rPr lang="en-US" sz="1300" dirty="0" err="1">
                <a:solidFill>
                  <a:srgbClr val="FFFFFF"/>
                </a:solidFill>
              </a:rPr>
              <a:t>barrientos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Octubre 2026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58368" y="60533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5C48D"/>
                </a:solidFill>
              </a:rPr>
              <a:t>15 DIAPOSITIVAS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16C7C8"/>
                </a:solidFill>
              </a:rPr>
              <a:t>RUTA DE LA PRESENTACIÓN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324A"/>
                </a:solidFill>
              </a:rPr>
              <a:t>Del problema a una plataforma preparada para crecer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744200" y="5029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C9D5DE"/>
                </a:solidFill>
              </a:rPr>
              <a:t>02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384048" cy="384048"/>
          </a:xfrm>
          <a:prstGeom prst="ellipse">
            <a:avLst/>
          </a:prstGeom>
          <a:solidFill>
            <a:srgbClr val="16C7C8"/>
          </a:solidFill>
          <a:ln w="12700">
            <a:solidFill>
              <a:srgbClr val="16C7C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658368" y="175564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25296" y="170992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324A"/>
                </a:solidFill>
              </a:rPr>
              <a:t>Problema y contexto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2377440"/>
            <a:ext cx="384048" cy="384048"/>
          </a:xfrm>
          <a:prstGeom prst="ellipse">
            <a:avLst/>
          </a:prstGeom>
          <a:solidFill>
            <a:srgbClr val="16C7C8"/>
          </a:solidFill>
          <a:ln w="12700">
            <a:solidFill>
              <a:srgbClr val="16C7C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658368" y="246888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25296" y="242316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324A"/>
                </a:solidFill>
              </a:rPr>
              <a:t>Objetivos del proyecto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8368" y="3090672"/>
            <a:ext cx="384048" cy="384048"/>
          </a:xfrm>
          <a:prstGeom prst="ellipse">
            <a:avLst/>
          </a:prstGeom>
          <a:solidFill>
            <a:srgbClr val="16C7C8"/>
          </a:solidFill>
          <a:ln w="12700">
            <a:solidFill>
              <a:srgbClr val="16C7C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658368" y="318211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25296" y="313639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4A"/>
                </a:solidFill>
              </a:rPr>
              <a:t>Arquitectura general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8368" y="3803904"/>
            <a:ext cx="384048" cy="384048"/>
          </a:xfrm>
          <a:prstGeom prst="ellipse">
            <a:avLst/>
          </a:prstGeom>
          <a:solidFill>
            <a:srgbClr val="16C7C8"/>
          </a:solidFill>
          <a:ln w="12700">
            <a:solidFill>
              <a:srgbClr val="16C7C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658368" y="389534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25296" y="384962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324A"/>
                </a:solidFill>
              </a:rPr>
              <a:t>Módulos y componentes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8368" y="4517136"/>
            <a:ext cx="384048" cy="384048"/>
          </a:xfrm>
          <a:prstGeom prst="ellipse">
            <a:avLst/>
          </a:prstGeom>
          <a:solidFill>
            <a:srgbClr val="16C7C8"/>
          </a:solidFill>
          <a:ln w="12700">
            <a:solidFill>
              <a:srgbClr val="16C7C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658368" y="460857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25296" y="456285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324A"/>
                </a:solidFill>
              </a:rPr>
              <a:t>Flujo transaccional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8368" y="5230368"/>
            <a:ext cx="384048" cy="384048"/>
          </a:xfrm>
          <a:prstGeom prst="ellipse">
            <a:avLst/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658368" y="532180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25296" y="527608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4A"/>
                </a:solidFill>
              </a:rPr>
              <a:t>Servicios principales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36208" y="1664208"/>
            <a:ext cx="384048" cy="384048"/>
          </a:xfrm>
          <a:prstGeom prst="ellipse">
            <a:avLst/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6236208" y="175564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03136" y="170992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324A"/>
                </a:solidFill>
              </a:rPr>
              <a:t>Stack tecnológico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36208" y="2377440"/>
            <a:ext cx="384048" cy="384048"/>
          </a:xfrm>
          <a:prstGeom prst="ellipse">
            <a:avLst/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Text 25"/>
          <p:cNvSpPr/>
          <p:nvPr/>
        </p:nvSpPr>
        <p:spPr>
          <a:xfrm>
            <a:off x="6236208" y="246888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03136" y="242316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324A"/>
                </a:solidFill>
              </a:rPr>
              <a:t>Ejecución y deployment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36208" y="3090672"/>
            <a:ext cx="384048" cy="384048"/>
          </a:xfrm>
          <a:prstGeom prst="ellipse">
            <a:avLst/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0" name="Text 28"/>
          <p:cNvSpPr/>
          <p:nvPr/>
        </p:nvSpPr>
        <p:spPr>
          <a:xfrm>
            <a:off x="6236208" y="318211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03136" y="313639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324A"/>
                </a:solidFill>
              </a:rPr>
              <a:t>Testing y validación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36208" y="3803904"/>
            <a:ext cx="384048" cy="384048"/>
          </a:xfrm>
          <a:prstGeom prst="ellipse">
            <a:avLst/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Text 31"/>
          <p:cNvSpPr/>
          <p:nvPr/>
        </p:nvSpPr>
        <p:spPr>
          <a:xfrm>
            <a:off x="6236208" y="389534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03136" y="384962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4A"/>
                </a:solidFill>
              </a:rPr>
              <a:t>Seguridad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36208" y="4517136"/>
            <a:ext cx="384048" cy="384048"/>
          </a:xfrm>
          <a:prstGeom prst="ellipse">
            <a:avLst/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6" name="Text 34"/>
          <p:cNvSpPr/>
          <p:nvPr/>
        </p:nvSpPr>
        <p:spPr>
          <a:xfrm>
            <a:off x="6236208" y="460857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03136" y="456285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324A"/>
                </a:solidFill>
              </a:rPr>
              <a:t>Conclusiones</a:t>
            </a:r>
            <a:endParaRPr lang="en-US" sz="16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194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C9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16C7C8"/>
                </a:solidFill>
              </a:rPr>
              <a:t>01 · CONTEXTO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324A"/>
                </a:solidFill>
              </a:rPr>
              <a:t>Del monolito rígido a servicios autónomos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52144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7083"/>
                </a:solidFill>
              </a:rPr>
              <a:t>La meta no es dividir por dividir, sino reducir el radio de impacto del cambio.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744200" y="5029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C9D5DE"/>
                </a:solidFill>
              </a:rPr>
              <a:t>03</a:t>
            </a:r>
            <a:endParaRPr lang="en-US" sz="3400" dirty="0"/>
          </a:p>
        </p:txBody>
      </p:sp>
      <p:pic>
        <p:nvPicPr>
          <p:cNvPr id="6" name="Image 0" descr="/mnt/data/generated_image_2685216D4617_01.png"/>
          <p:cNvPicPr>
            <a:picLocks noChangeAspect="1"/>
          </p:cNvPicPr>
          <p:nvPr/>
        </p:nvPicPr>
        <p:blipFill>
          <a:blip r:embed="rId3"/>
          <a:srcRect l="9933" r="9933"/>
          <a:stretch/>
        </p:blipFill>
        <p:spPr>
          <a:xfrm>
            <a:off x="6172200" y="1508760"/>
            <a:ext cx="5440680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600200"/>
            <a:ext cx="2468880" cy="42519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15240" dist="6350" dir="2700000" algn="bl" rotWithShape="0">
              <a:srgbClr val="2338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8" name="Shape 5"/>
          <p:cNvSpPr/>
          <p:nvPr/>
        </p:nvSpPr>
        <p:spPr>
          <a:xfrm>
            <a:off x="640080" y="1600200"/>
            <a:ext cx="73152" cy="4251960"/>
          </a:xfrm>
          <a:prstGeom prst="rect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6"/>
          <p:cNvSpPr/>
          <p:nvPr/>
        </p:nvSpPr>
        <p:spPr>
          <a:xfrm>
            <a:off x="896112" y="17830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4A"/>
                </a:solidFill>
              </a:rPr>
              <a:t>Monolito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96112" y="2167128"/>
            <a:ext cx="2029968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 dirty="0">
                <a:solidFill>
                  <a:srgbClr val="5D7083"/>
                </a:solidFill>
              </a:rPr>
              <a:t>Acoplamiento fuerte</a:t>
            </a:r>
            <a:endParaRPr lang="en-US" sz="1150" dirty="0"/>
          </a:p>
          <a:p>
            <a:r>
              <a:rPr lang="en-US" sz="1150" dirty="0">
                <a:solidFill>
                  <a:srgbClr val="5D7083"/>
                </a:solidFill>
              </a:rPr>
              <a:t>Despliegues coordinados</a:t>
            </a:r>
            <a:endParaRPr lang="en-US" sz="1150" dirty="0"/>
          </a:p>
          <a:p>
            <a:r>
              <a:rPr lang="en-US" sz="1150" dirty="0">
                <a:solidFill>
                  <a:srgbClr val="5D7083"/>
                </a:solidFill>
              </a:rPr>
              <a:t>Testing lento</a:t>
            </a:r>
            <a:endParaRPr lang="en-US" sz="1150" dirty="0"/>
          </a:p>
          <a:p>
            <a:r>
              <a:rPr lang="en-US" sz="1150" dirty="0">
                <a:solidFill>
                  <a:srgbClr val="5D7083"/>
                </a:solidFill>
              </a:rPr>
              <a:t>Escalado completo</a:t>
            </a:r>
            <a:endParaRPr lang="en-US" sz="1150" dirty="0"/>
          </a:p>
          <a:p>
            <a:r>
              <a:rPr lang="en-US" sz="1150" dirty="0">
                <a:solidFill>
                  <a:srgbClr val="5D7083"/>
                </a:solidFill>
              </a:rPr>
              <a:t>Punto único de fallo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37560" y="1600200"/>
            <a:ext cx="2468880" cy="42519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15240" dist="6350" dir="2700000" algn="bl" rotWithShape="0">
              <a:srgbClr val="2338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2" name="Shape 9"/>
          <p:cNvSpPr/>
          <p:nvPr/>
        </p:nvSpPr>
        <p:spPr>
          <a:xfrm>
            <a:off x="3337560" y="1600200"/>
            <a:ext cx="73152" cy="4251960"/>
          </a:xfrm>
          <a:prstGeom prst="rect">
            <a:avLst/>
          </a:prstGeom>
          <a:solidFill>
            <a:srgbClr val="35C48D"/>
          </a:solidFill>
          <a:ln w="12700">
            <a:solidFill>
              <a:srgbClr val="35C48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0"/>
          <p:cNvSpPr/>
          <p:nvPr/>
        </p:nvSpPr>
        <p:spPr>
          <a:xfrm>
            <a:off x="3593592" y="17830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4A"/>
                </a:solidFill>
              </a:rPr>
              <a:t>Microservicios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593592" y="2167128"/>
            <a:ext cx="2029968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 dirty="0">
                <a:solidFill>
                  <a:srgbClr val="5D7083"/>
                </a:solidFill>
              </a:rPr>
              <a:t>Dominios aislados</a:t>
            </a:r>
            <a:endParaRPr lang="en-US" sz="1150" dirty="0"/>
          </a:p>
          <a:p>
            <a:r>
              <a:rPr lang="en-US" sz="1150" dirty="0">
                <a:solidFill>
                  <a:srgbClr val="5D7083"/>
                </a:solidFill>
              </a:rPr>
              <a:t>Despliegue independiente</a:t>
            </a:r>
            <a:endParaRPr lang="en-US" sz="1150" dirty="0"/>
          </a:p>
          <a:p>
            <a:r>
              <a:rPr lang="en-US" sz="1150" dirty="0">
                <a:solidFill>
                  <a:srgbClr val="5D7083"/>
                </a:solidFill>
              </a:rPr>
              <a:t>Contratos versionados</a:t>
            </a:r>
            <a:endParaRPr lang="en-US" sz="1150" dirty="0"/>
          </a:p>
          <a:p>
            <a:r>
              <a:rPr lang="en-US" sz="1150" dirty="0">
                <a:solidFill>
                  <a:srgbClr val="5D7083"/>
                </a:solidFill>
              </a:rPr>
              <a:t>Escalabilidad horizontal</a:t>
            </a:r>
            <a:endParaRPr lang="en-US" sz="1150" dirty="0"/>
          </a:p>
          <a:p>
            <a:r>
              <a:rPr lang="en-US" sz="1150" dirty="0">
                <a:solidFill>
                  <a:srgbClr val="5D7083"/>
                </a:solidFill>
              </a:rPr>
              <a:t>Fallos contenidos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194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C9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16C7C8"/>
                </a:solidFill>
              </a:rPr>
              <a:t>02 · OBJETIVOS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324A"/>
                </a:solidFill>
              </a:rPr>
              <a:t>Cinco decisiones que guían la arquitectura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744200" y="5029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C9D5DE"/>
                </a:solidFill>
              </a:rPr>
              <a:t>04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1975104" cy="3429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12700" dist="5080" dir="2700000" algn="bl" rotWithShape="0">
              <a:srgbClr val="2338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850392" y="20574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5EA6"/>
                </a:solidFill>
              </a:rPr>
              <a:t>01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50392" y="27889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24A"/>
                </a:solidFill>
              </a:rPr>
              <a:t>Desacoplamiento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0392" y="38862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7083"/>
                </a:solidFill>
              </a:rPr>
              <a:t>Un servicio por dominio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53512" y="1828800"/>
            <a:ext cx="1975104" cy="3429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12700" dist="5080" dir="2700000" algn="bl" rotWithShape="0">
              <a:srgbClr val="2338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3118104" y="20574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5EA6"/>
                </a:solidFill>
              </a:rPr>
              <a:t>02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118104" y="27889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24A"/>
                </a:solidFill>
              </a:rPr>
              <a:t>Escalabilidad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118104" y="38862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7083"/>
                </a:solidFill>
              </a:rPr>
              <a:t>Capacidad donde se necesita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21224" y="1828800"/>
            <a:ext cx="1975104" cy="3429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12700" dist="5080" dir="2700000" algn="bl" rotWithShape="0">
              <a:srgbClr val="2338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5385816" y="20574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5EA6"/>
                </a:solidFill>
              </a:rPr>
              <a:t>03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385816" y="27889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24A"/>
                </a:solidFill>
              </a:rPr>
              <a:t>Resiliencia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85816" y="38862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7083"/>
                </a:solidFill>
              </a:rPr>
              <a:t>Fallos aislados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88936" y="1828800"/>
            <a:ext cx="1975104" cy="3429000"/>
          </a:xfrm>
          <a:prstGeom prst="roundRect">
            <a:avLst>
              <a:gd name="adj" fmla="val 3704"/>
            </a:avLst>
          </a:prstGeom>
          <a:solidFill>
            <a:srgbClr val="071B33"/>
          </a:solidFill>
          <a:ln w="12700">
            <a:solidFill>
              <a:srgbClr val="071B33"/>
            </a:solidFill>
            <a:prstDash val="solid"/>
          </a:ln>
          <a:effectLst>
            <a:outerShdw blurRad="12700" dist="5080" dir="2700000" algn="bl" rotWithShape="0">
              <a:srgbClr val="2338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7653528" y="20574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C7C8"/>
                </a:solidFill>
              </a:rPr>
              <a:t>04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653528" y="27889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Asincronía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653528" y="38862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5F0"/>
                </a:solidFill>
              </a:rPr>
              <a:t>Kafka + RabbitMQ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756648" y="1828800"/>
            <a:ext cx="1975104" cy="3429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12700" dist="5080" dir="2700000" algn="bl" rotWithShape="0">
              <a:srgbClr val="23384A">
                <a:alpha val="12000"/>
              </a:srgbClr>
            </a:outerShdw>
          </a:effectLst>
        </p:spPr>
        <p:txBody>
          <a:bodyPr/>
          <a:lstStyle/>
          <a:p>
            <a:endParaRPr lang="es-PE" dirty="0"/>
          </a:p>
        </p:txBody>
      </p:sp>
      <p:sp>
        <p:nvSpPr>
          <p:cNvPr id="22" name="Text 20"/>
          <p:cNvSpPr/>
          <p:nvPr/>
        </p:nvSpPr>
        <p:spPr>
          <a:xfrm>
            <a:off x="9921240" y="20574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5EA6"/>
                </a:solidFill>
              </a:rPr>
              <a:t>05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921240" y="27889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24A"/>
                </a:solidFill>
              </a:rPr>
              <a:t>Seguridad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921240" y="38862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7083"/>
                </a:solidFill>
              </a:rPr>
              <a:t>JWT + MFA + OAuth2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194560" y="5715000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324A"/>
                </a:solidFill>
              </a:rPr>
              <a:t>Principio rector: autonomía operativa con consistencia contractual.</a:t>
            </a:r>
            <a:endParaRPr lang="en-US" sz="17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194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C9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2D68DE2-183B-4D68-A646-9E13D7892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26" y="119744"/>
            <a:ext cx="119400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10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16C7C8"/>
                </a:solidFill>
              </a:rPr>
              <a:t>03 · ARQUITECTURA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324A"/>
                </a:solidFill>
              </a:rPr>
              <a:t>Un punto de entrada, tres dominios y dos canales de mensajería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744200" y="5029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C9D5DE"/>
                </a:solidFill>
              </a:rPr>
              <a:t>05</a:t>
            </a:r>
            <a:endParaRPr lang="en-US" sz="3400" dirty="0"/>
          </a:p>
        </p:txBody>
      </p:sp>
      <p:pic>
        <p:nvPicPr>
          <p:cNvPr id="5" name="Image 0" descr="/mnt/data/generated_image_2685216D4617_02.png"/>
          <p:cNvPicPr>
            <a:picLocks noChangeAspect="1"/>
          </p:cNvPicPr>
          <p:nvPr/>
        </p:nvPicPr>
        <p:blipFill>
          <a:blip r:embed="rId3"/>
          <a:srcRect l="18269" r="18269"/>
          <a:stretch/>
        </p:blipFill>
        <p:spPr>
          <a:xfrm>
            <a:off x="7086600" y="1417320"/>
            <a:ext cx="452628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423160" y="1554480"/>
            <a:ext cx="3246120" cy="658368"/>
          </a:xfrm>
          <a:prstGeom prst="roundRect">
            <a:avLst>
              <a:gd name="adj" fmla="val 8333"/>
            </a:avLst>
          </a:prstGeom>
          <a:solidFill>
            <a:srgbClr val="071B33"/>
          </a:solidFill>
          <a:ln w="12700">
            <a:solidFill>
              <a:srgbClr val="071B3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4"/>
          <p:cNvSpPr/>
          <p:nvPr/>
        </p:nvSpPr>
        <p:spPr>
          <a:xfrm>
            <a:off x="2560320" y="1764792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API GATEWAY  ·  :8080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8368" y="17190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5EA6"/>
                </a:solidFill>
              </a:rPr>
              <a:t>CLIENTE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874520" y="1700784"/>
            <a:ext cx="365760" cy="274320"/>
          </a:xfrm>
          <a:prstGeom prst="chevron">
            <a:avLst/>
          </a:prstGeom>
          <a:solidFill>
            <a:srgbClr val="16C7C8"/>
          </a:solidFill>
          <a:ln w="12700">
            <a:solidFill>
              <a:srgbClr val="16C7C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Shape 7"/>
          <p:cNvSpPr/>
          <p:nvPr/>
        </p:nvSpPr>
        <p:spPr>
          <a:xfrm>
            <a:off x="658368" y="274320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12700" dist="5080" dir="2700000" algn="bl" rotWithShape="0">
              <a:srgbClr val="23384A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/>
          <p:nvPr/>
        </p:nvSpPr>
        <p:spPr>
          <a:xfrm>
            <a:off x="786384" y="2971800"/>
            <a:ext cx="1709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24A"/>
                </a:solidFill>
              </a:rPr>
              <a:t>SOLICITUD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271016" y="3328416"/>
            <a:ext cx="731520" cy="320040"/>
          </a:xfrm>
          <a:prstGeom prst="roundRect">
            <a:avLst>
              <a:gd name="adj" fmla="val 22857"/>
            </a:avLst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3" name="Text 10"/>
          <p:cNvSpPr/>
          <p:nvPr/>
        </p:nvSpPr>
        <p:spPr>
          <a:xfrm>
            <a:off x="1344168" y="3406140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8081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636776" y="2212848"/>
            <a:ext cx="1" cy="530352"/>
          </a:xfrm>
          <a:prstGeom prst="line">
            <a:avLst/>
          </a:prstGeom>
          <a:noFill/>
          <a:ln w="25400">
            <a:solidFill>
              <a:srgbClr val="0D5EA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2"/>
          <p:cNvSpPr/>
          <p:nvPr/>
        </p:nvSpPr>
        <p:spPr>
          <a:xfrm>
            <a:off x="960120" y="4160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D7083"/>
                </a:solidFill>
              </a:rPr>
              <a:t>PostgreSQL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788920" y="274320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16C7C8"/>
            </a:solidFill>
            <a:prstDash val="solid"/>
          </a:ln>
          <a:effectLst>
            <a:outerShdw blurRad="12700" dist="5080" dir="2700000" algn="bl" rotWithShape="0">
              <a:srgbClr val="23384A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7" name="Text 14"/>
          <p:cNvSpPr/>
          <p:nvPr/>
        </p:nvSpPr>
        <p:spPr>
          <a:xfrm>
            <a:off x="2916936" y="2971800"/>
            <a:ext cx="1709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24A"/>
                </a:solidFill>
              </a:rPr>
              <a:t>EVALUACIÓN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401568" y="3328416"/>
            <a:ext cx="731520" cy="320040"/>
          </a:xfrm>
          <a:prstGeom prst="roundRect">
            <a:avLst>
              <a:gd name="adj" fmla="val 22857"/>
            </a:avLst>
          </a:prstGeom>
          <a:solidFill>
            <a:srgbClr val="16C7C8"/>
          </a:solidFill>
          <a:ln w="12700">
            <a:solidFill>
              <a:srgbClr val="16C7C8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9" name="Text 16"/>
          <p:cNvSpPr/>
          <p:nvPr/>
        </p:nvSpPr>
        <p:spPr>
          <a:xfrm>
            <a:off x="3474720" y="3406140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8082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767328" y="2212848"/>
            <a:ext cx="1" cy="530352"/>
          </a:xfrm>
          <a:prstGeom prst="line">
            <a:avLst/>
          </a:prstGeom>
          <a:noFill/>
          <a:ln w="25400">
            <a:solidFill>
              <a:srgbClr val="0D5EA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8"/>
          <p:cNvSpPr/>
          <p:nvPr/>
        </p:nvSpPr>
        <p:spPr>
          <a:xfrm>
            <a:off x="3090672" y="4160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D7083"/>
                </a:solidFill>
              </a:rPr>
              <a:t>PostgreSQL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919472" y="274320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12700" dist="5080" dir="2700000" algn="bl" rotWithShape="0">
              <a:srgbClr val="23384A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3" name="Text 20"/>
          <p:cNvSpPr/>
          <p:nvPr/>
        </p:nvSpPr>
        <p:spPr>
          <a:xfrm>
            <a:off x="5047488" y="2971800"/>
            <a:ext cx="1709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24A"/>
                </a:solidFill>
              </a:rPr>
              <a:t>AUTH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532120" y="3328416"/>
            <a:ext cx="731520" cy="320040"/>
          </a:xfrm>
          <a:prstGeom prst="roundRect">
            <a:avLst>
              <a:gd name="adj" fmla="val 22857"/>
            </a:avLst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5" name="Text 22"/>
          <p:cNvSpPr/>
          <p:nvPr/>
        </p:nvSpPr>
        <p:spPr>
          <a:xfrm>
            <a:off x="5605272" y="3406140"/>
            <a:ext cx="5852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8083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897880" y="2212848"/>
            <a:ext cx="1" cy="530352"/>
          </a:xfrm>
          <a:prstGeom prst="line">
            <a:avLst/>
          </a:prstGeom>
          <a:noFill/>
          <a:ln w="25400">
            <a:solidFill>
              <a:srgbClr val="0D5EA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7" name="Text 24"/>
          <p:cNvSpPr/>
          <p:nvPr/>
        </p:nvSpPr>
        <p:spPr>
          <a:xfrm>
            <a:off x="5221224" y="4160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D7083"/>
                </a:solidFill>
              </a:rPr>
              <a:t>OIDC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1005840" y="4983480"/>
            <a:ext cx="2286000" cy="320040"/>
          </a:xfrm>
          <a:prstGeom prst="roundRect">
            <a:avLst>
              <a:gd name="adj" fmla="val 22857"/>
            </a:avLst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9" name="Text 26"/>
          <p:cNvSpPr/>
          <p:nvPr/>
        </p:nvSpPr>
        <p:spPr>
          <a:xfrm>
            <a:off x="1078992" y="5061204"/>
            <a:ext cx="21396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KAFKA · EVENTOS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703320" y="4983480"/>
            <a:ext cx="2606040" cy="320040"/>
          </a:xfrm>
          <a:prstGeom prst="roundRect">
            <a:avLst>
              <a:gd name="adj" fmla="val 22857"/>
            </a:avLst>
          </a:prstGeom>
          <a:solidFill>
            <a:srgbClr val="35C48D"/>
          </a:solidFill>
          <a:ln w="12700">
            <a:solidFill>
              <a:srgbClr val="35C48D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1" name="Text 28"/>
          <p:cNvSpPr/>
          <p:nvPr/>
        </p:nvSpPr>
        <p:spPr>
          <a:xfrm>
            <a:off x="3776472" y="5061204"/>
            <a:ext cx="2459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RABBITMQ · COMANDOS</a:t>
            </a:r>
            <a:endParaRPr lang="en-US" sz="9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194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C9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16C7C8"/>
                </a:solidFill>
              </a:rPr>
              <a:t>04 · COMPONENTES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324A"/>
                </a:solidFill>
              </a:rPr>
              <a:t>Seis módulos, responsabilidades explícitas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744200" y="5029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C9D5DE"/>
                </a:solidFill>
              </a:rPr>
              <a:t>06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58368" y="1600200"/>
            <a:ext cx="342900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15240" dist="6350" dir="2700000" algn="bl" rotWithShape="0">
              <a:srgbClr val="23384A">
                <a:alpha val="12000"/>
              </a:srgbClr>
            </a:outerShdw>
          </a:effectLst>
        </p:spPr>
        <p:txBody>
          <a:bodyPr/>
          <a:lstStyle/>
          <a:p>
            <a:endParaRPr lang="es-PE" dirty="0"/>
          </a:p>
        </p:txBody>
      </p:sp>
      <p:sp>
        <p:nvSpPr>
          <p:cNvPr id="6" name="Shape 4"/>
          <p:cNvSpPr/>
          <p:nvPr/>
        </p:nvSpPr>
        <p:spPr>
          <a:xfrm>
            <a:off x="658368" y="1600200"/>
            <a:ext cx="73152" cy="1536192"/>
          </a:xfrm>
          <a:prstGeom prst="rect">
            <a:avLst/>
          </a:prstGeom>
          <a:solidFill>
            <a:srgbClr val="16C7C8"/>
          </a:solidFill>
          <a:ln w="12700">
            <a:solidFill>
              <a:srgbClr val="16C7C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4A"/>
                </a:solidFill>
              </a:rPr>
              <a:t>contracts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167128"/>
            <a:ext cx="2990088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 dirty="0">
                <a:solidFill>
                  <a:srgbClr val="5D7083"/>
                </a:solidFill>
              </a:rPr>
              <a:t>DTOs versionados</a:t>
            </a:r>
            <a:endParaRPr lang="en-US" sz="1150" dirty="0"/>
          </a:p>
          <a:p>
            <a:r>
              <a:rPr lang="en-US" sz="1150" dirty="0">
                <a:solidFill>
                  <a:srgbClr val="5D7083"/>
                </a:solidFill>
              </a:rPr>
              <a:t>Java POJOs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98848" y="1600200"/>
            <a:ext cx="342900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15240" dist="6350" dir="2700000" algn="bl" rotWithShape="0">
              <a:srgbClr val="2338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>
            <a:off x="4498848" y="1600200"/>
            <a:ext cx="73152" cy="1536192"/>
          </a:xfrm>
          <a:prstGeom prst="rect">
            <a:avLst/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4754880" y="1783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4A"/>
                </a:solidFill>
              </a:rPr>
              <a:t>api-gateway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2167128"/>
            <a:ext cx="2990088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 dirty="0">
                <a:solidFill>
                  <a:srgbClr val="5D7083"/>
                </a:solidFill>
              </a:rPr>
              <a:t>Entrada y enrutamiento</a:t>
            </a:r>
            <a:endParaRPr lang="en-US" sz="1150" dirty="0"/>
          </a:p>
          <a:p>
            <a:r>
              <a:rPr lang="en-US" sz="1150" dirty="0">
                <a:solidFill>
                  <a:srgbClr val="5D7083"/>
                </a:solidFill>
              </a:rPr>
              <a:t>Spring Cloud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339328" y="1600200"/>
            <a:ext cx="342900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15240" dist="6350" dir="2700000" algn="bl" rotWithShape="0">
              <a:srgbClr val="2338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4" name="Shape 12"/>
          <p:cNvSpPr/>
          <p:nvPr/>
        </p:nvSpPr>
        <p:spPr>
          <a:xfrm>
            <a:off x="8339328" y="1600200"/>
            <a:ext cx="73152" cy="1536192"/>
          </a:xfrm>
          <a:prstGeom prst="rect">
            <a:avLst/>
          </a:prstGeom>
          <a:solidFill>
            <a:srgbClr val="35C48D"/>
          </a:solidFill>
          <a:ln w="12700">
            <a:solidFill>
              <a:srgbClr val="35C48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8595360" y="1783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4A"/>
                </a:solidFill>
              </a:rPr>
              <a:t>solicitud-service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95360" y="2167128"/>
            <a:ext cx="2990088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 dirty="0">
                <a:solidFill>
                  <a:srgbClr val="5D7083"/>
                </a:solidFill>
              </a:rPr>
              <a:t>Gestión de solicitudes</a:t>
            </a:r>
            <a:endParaRPr lang="en-US" sz="1150" dirty="0"/>
          </a:p>
          <a:p>
            <a:r>
              <a:rPr lang="en-US" sz="1150" dirty="0">
                <a:solidFill>
                  <a:srgbClr val="5D7083"/>
                </a:solidFill>
              </a:rPr>
              <a:t>Spring Boot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" y="3611880"/>
            <a:ext cx="342900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15240" dist="6350" dir="2700000" algn="bl" rotWithShape="0">
              <a:srgbClr val="2338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8" name="Shape 16"/>
          <p:cNvSpPr/>
          <p:nvPr/>
        </p:nvSpPr>
        <p:spPr>
          <a:xfrm>
            <a:off x="658368" y="3611880"/>
            <a:ext cx="73152" cy="1536192"/>
          </a:xfrm>
          <a:prstGeom prst="rect">
            <a:avLst/>
          </a:prstGeom>
          <a:solidFill>
            <a:srgbClr val="F4A640"/>
          </a:solidFill>
          <a:ln w="12700">
            <a:solidFill>
              <a:srgbClr val="F4A64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914400" y="3794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4A"/>
                </a:solidFill>
              </a:rPr>
              <a:t>evaluacion-service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4178808"/>
            <a:ext cx="2990088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 dirty="0">
                <a:solidFill>
                  <a:srgbClr val="5D7083"/>
                </a:solidFill>
              </a:rPr>
              <a:t>Política de crédito</a:t>
            </a:r>
            <a:endParaRPr lang="en-US" sz="1150" dirty="0"/>
          </a:p>
          <a:p>
            <a:r>
              <a:rPr lang="en-US" sz="1150" dirty="0">
                <a:solidFill>
                  <a:srgbClr val="5D7083"/>
                </a:solidFill>
              </a:rPr>
              <a:t>Spring + Kafka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498848" y="3611880"/>
            <a:ext cx="342900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15240" dist="6350" dir="2700000" algn="bl" rotWithShape="0">
              <a:srgbClr val="2338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2" name="Shape 20"/>
          <p:cNvSpPr/>
          <p:nvPr/>
        </p:nvSpPr>
        <p:spPr>
          <a:xfrm>
            <a:off x="4498848" y="3611880"/>
            <a:ext cx="73152" cy="1536192"/>
          </a:xfrm>
          <a:prstGeom prst="rect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/>
          <p:nvPr/>
        </p:nvSpPr>
        <p:spPr>
          <a:xfrm>
            <a:off x="4754880" y="3794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4A"/>
                </a:solidFill>
              </a:rPr>
              <a:t>auth-service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54880" y="4178808"/>
            <a:ext cx="2990088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 dirty="0">
                <a:solidFill>
                  <a:srgbClr val="5D7083"/>
                </a:solidFill>
              </a:rPr>
              <a:t>Identidad y acceso</a:t>
            </a:r>
            <a:endParaRPr lang="en-US" sz="1150" dirty="0"/>
          </a:p>
          <a:p>
            <a:r>
              <a:rPr lang="en-US" sz="1150" dirty="0">
                <a:solidFill>
                  <a:srgbClr val="5D7083"/>
                </a:solidFill>
              </a:rPr>
              <a:t>Spring Security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339328" y="3611880"/>
            <a:ext cx="342900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15240" dist="6350" dir="2700000" algn="bl" rotWithShape="0">
              <a:srgbClr val="2338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6" name="Shape 24"/>
          <p:cNvSpPr/>
          <p:nvPr/>
        </p:nvSpPr>
        <p:spPr>
          <a:xfrm>
            <a:off x="8339328" y="3611880"/>
            <a:ext cx="73152" cy="1536192"/>
          </a:xfrm>
          <a:prstGeom prst="rect">
            <a:avLst/>
          </a:prstGeom>
          <a:solidFill>
            <a:srgbClr val="7257D5"/>
          </a:solidFill>
          <a:ln w="12700">
            <a:solidFill>
              <a:srgbClr val="7257D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Text 25"/>
          <p:cNvSpPr/>
          <p:nvPr/>
        </p:nvSpPr>
        <p:spPr>
          <a:xfrm>
            <a:off x="8595360" y="3794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4A"/>
                </a:solidFill>
              </a:rPr>
              <a:t>frontend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95360" y="4178808"/>
            <a:ext cx="2990088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 dirty="0">
                <a:solidFill>
                  <a:srgbClr val="5D7083"/>
                </a:solidFill>
              </a:rPr>
              <a:t>Consola de pruebas</a:t>
            </a:r>
            <a:endParaRPr lang="en-US" sz="1150" dirty="0"/>
          </a:p>
          <a:p>
            <a:r>
              <a:rPr lang="en-US" sz="1150" dirty="0">
                <a:solidFill>
                  <a:srgbClr val="5D7083"/>
                </a:solidFill>
              </a:rPr>
              <a:t>Vite + React</a:t>
            </a:r>
            <a:endParaRPr lang="en-US" sz="11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194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C9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E952B6C9-7A14-4A70-8956-A9E8383072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B1F3A"/>
          </a:solidFill>
          <a:ln w="0"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E628A93-8D09-4B4B-8C93-9847CB8C030B}"/>
              </a:ext>
            </a:extLst>
          </p:cNvPr>
          <p:cNvSpPr>
            <a:spLocks noGrp="1"/>
          </p:cNvSpPr>
          <p:nvPr/>
        </p:nvSpPr>
        <p:spPr>
          <a:xfrm>
            <a:off x="666750" y="476250"/>
            <a:ext cx="10287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7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Componentes y responsabilidades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7861ACF-9078-4936-BEE8-0691EF0C1F5B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>
                <a:solidFill>
                  <a:srgbClr val="53657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3657B"/>
                </a:solidFill>
                <a:latin typeface="Arial"/>
                <a:ea typeface="Arial"/>
                <a:cs typeface="Arial"/>
              </a:rPr>
              <a:t>Cada componente tiene un límite técnico y funcional explícito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C08EF10B-BCF4-4126-8DB7-38DD99119A69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22C3E6"/>
          </a:solidFill>
          <a:ln w="0">
            <a:noFill/>
          </a:ln>
        </p:spPr>
        <p:txBody>
          <a:bodyPr/>
          <a:lstStyle/>
          <a:p>
            <a:endParaRPr lang="es-PE"/>
          </a:p>
        </p:txBody>
      </p:sp>
      <p:graphicFrame>
        <p:nvGraphicFramePr>
          <p:cNvPr id="13" name="Tabla 12"/>
          <p:cNvGraphicFramePr/>
          <p:nvPr/>
        </p:nvGraphicFramePr>
        <p:xfrm>
          <a:off x="666750" y="1762125"/>
          <a:ext cx="10858500" cy="3714753"/>
        </p:xfrm>
        <a:graphic>
          <a:graphicData uri="http://schemas.openxmlformats.org/drawingml/2006/table">
            <a:tbl>
              <a:tblPr/>
              <a:tblGrid>
                <a:gridCol w="23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67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Componente</a:t>
                      </a:r>
                    </a:p>
                  </a:txBody>
                  <a:tcPr marL="95250" marR="95250" marT="76200" marB="7620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Responsabilidad</a:t>
                      </a:r>
                    </a:p>
                  </a:txBody>
                  <a:tcPr marL="95250" marR="95250" marT="76200" marB="7620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Integración principal</a:t>
                      </a:r>
                    </a:p>
                  </a:txBody>
                  <a:tcPr marL="95250" marR="95250" marT="76200" marB="76200"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33F"/>
                          </a:solidFill>
                          <a:latin typeface="Arial"/>
                          <a:ea typeface="Arial"/>
                          <a:cs typeface="Arial"/>
                        </a:rPr>
                        <a:t>API Gateway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33F"/>
                          </a:solidFill>
                          <a:latin typeface="Arial"/>
                          <a:ea typeface="Arial"/>
                          <a:cs typeface="Arial"/>
                        </a:rPr>
                        <a:t>Entrada única y enrutamiento de rutas públicas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33F"/>
                          </a:solidFill>
                          <a:latin typeface="Arial"/>
                          <a:ea typeface="Arial"/>
                          <a:cs typeface="Arial"/>
                        </a:rPr>
                        <a:t>HTTP hacia los servicios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33F"/>
                          </a:solidFill>
                          <a:latin typeface="Arial"/>
                          <a:ea typeface="Arial"/>
                          <a:cs typeface="Arial"/>
                        </a:rPr>
                        <a:t>solicitud-service</a:t>
                      </a:r>
                    </a:p>
                  </a:txBody>
                  <a:tcPr marL="95250" marR="95250" marT="66675" marB="66675"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33F"/>
                          </a:solidFill>
                          <a:latin typeface="Arial"/>
                          <a:ea typeface="Arial"/>
                          <a:cs typeface="Arial"/>
                        </a:rPr>
                        <a:t>Crea y consulta solicitudes de crédito</a:t>
                      </a:r>
                    </a:p>
                  </a:txBody>
                  <a:tcPr marL="95250" marR="95250" marT="66675" marB="66675"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33F"/>
                          </a:solidFill>
                          <a:latin typeface="Arial"/>
                          <a:ea typeface="Arial"/>
                          <a:cs typeface="Arial"/>
                        </a:rPr>
                        <a:t>PostgreSQL y Kafka</a:t>
                      </a:r>
                    </a:p>
                  </a:txBody>
                  <a:tcPr marL="95250" marR="95250" marT="66675" marB="66675">
                    <a:solidFill>
                      <a:srgbClr val="ED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33F"/>
                          </a:solidFill>
                          <a:latin typeface="Arial"/>
                          <a:ea typeface="Arial"/>
                          <a:cs typeface="Arial"/>
                        </a:rPr>
                        <a:t>evaluacion-service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33F"/>
                          </a:solidFill>
                          <a:latin typeface="Arial"/>
                          <a:ea typeface="Arial"/>
                          <a:cs typeface="Arial"/>
                        </a:rPr>
                        <a:t>Evalúa solicitudes recibidas por evento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33F"/>
                          </a:solidFill>
                          <a:latin typeface="Arial"/>
                          <a:ea typeface="Arial"/>
                          <a:cs typeface="Arial"/>
                        </a:rPr>
                        <a:t>Kafka, PostgreSQL y RabbitMQ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33F"/>
                          </a:solidFill>
                          <a:latin typeface="Arial"/>
                          <a:ea typeface="Arial"/>
                          <a:cs typeface="Arial"/>
                        </a:rPr>
                        <a:t>auth-service</a:t>
                      </a:r>
                    </a:p>
                  </a:txBody>
                  <a:tcPr marL="95250" marR="95250" marT="66675" marB="66675"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33F"/>
                          </a:solidFill>
                          <a:latin typeface="Arial"/>
                          <a:ea typeface="Arial"/>
                          <a:cs typeface="Arial"/>
                        </a:rPr>
                        <a:t>Usuarios, JWT, OAuth y MFA en su versión mejorada</a:t>
                      </a:r>
                    </a:p>
                  </a:txBody>
                  <a:tcPr marL="95250" marR="95250" marT="66675" marB="66675"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33F"/>
                          </a:solidFill>
                          <a:latin typeface="Arial"/>
                          <a:ea typeface="Arial"/>
                          <a:cs typeface="Arial"/>
                        </a:rPr>
                        <a:t>HTTP, OAuth2 y base propia</a:t>
                      </a:r>
                    </a:p>
                  </a:txBody>
                  <a:tcPr marL="95250" marR="95250" marT="66675" marB="66675">
                    <a:solidFill>
                      <a:srgbClr val="ED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33F"/>
                          </a:solidFill>
                          <a:latin typeface="Arial"/>
                          <a:ea typeface="Arial"/>
                          <a:cs typeface="Arial"/>
                        </a:rPr>
                        <a:t>Kafka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33F"/>
                          </a:solidFill>
                          <a:latin typeface="Arial"/>
                          <a:ea typeface="Arial"/>
                          <a:cs typeface="Arial"/>
                        </a:rPr>
                        <a:t>Transmite SolicitudCreada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33F"/>
                          </a:solidFill>
                          <a:latin typeface="Arial"/>
                          <a:ea typeface="Arial"/>
                          <a:cs typeface="Arial"/>
                        </a:rPr>
                        <a:t>Eventos asíncronos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33F"/>
                          </a:solidFill>
                          <a:latin typeface="Arial"/>
                          <a:ea typeface="Arial"/>
                          <a:cs typeface="Arial"/>
                        </a:rPr>
                        <a:t>RabbitMQ</a:t>
                      </a:r>
                    </a:p>
                  </a:txBody>
                  <a:tcPr marL="95250" marR="95250" marT="66675" marB="66675"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33F"/>
                          </a:solidFill>
                          <a:latin typeface="Arial"/>
                          <a:ea typeface="Arial"/>
                          <a:cs typeface="Arial"/>
                        </a:rPr>
                        <a:t>Distribuye EvaluacionCompletada</a:t>
                      </a:r>
                    </a:p>
                  </a:txBody>
                  <a:tcPr marL="95250" marR="95250" marT="66675" marB="66675"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0233F"/>
                          </a:solidFill>
                          <a:latin typeface="Arial"/>
                          <a:ea typeface="Arial"/>
                          <a:cs typeface="Arial"/>
                        </a:rPr>
                        <a:t>Eventos asíncronos</a:t>
                      </a:r>
                    </a:p>
                  </a:txBody>
                  <a:tcPr marL="95250" marR="95250" marT="66675" marB="66675">
                    <a:solidFill>
                      <a:srgbClr val="ED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106F61D2-FF2D-4C46-BE79-1CBD477DEB68}"/>
              </a:ext>
            </a:extLst>
          </p:cNvPr>
          <p:cNvSpPr>
            <a:spLocks noGrp="1"/>
          </p:cNvSpPr>
          <p:nvPr/>
        </p:nvSpPr>
        <p:spPr>
          <a:xfrm>
            <a:off x="666750" y="5762625"/>
            <a:ext cx="10001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00">
                <a:solidFill>
                  <a:srgbClr val="53657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3657B"/>
                </a:solidFill>
                <a:latin typeface="Arial"/>
                <a:ea typeface="Arial"/>
                <a:cs typeface="Arial"/>
              </a:rPr>
              <a:t>El cliente no necesita conocer los puertos ni las direcciones internas de los microservicios.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F2E36F5-9862-4658-964D-A9219E0A53C6}"/>
              </a:ext>
            </a:extLst>
          </p:cNvPr>
          <p:cNvSpPr>
            <a:spLocks noGrp="1"/>
          </p:cNvSpPr>
          <p:nvPr/>
        </p:nvSpPr>
        <p:spPr>
          <a:xfrm>
            <a:off x="666750" y="6448425"/>
            <a:ext cx="44767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111" lnSpcReduction="10000"/>
          </a:bodyPr>
          <a:lstStyle/>
          <a:p>
            <a:pPr>
              <a:defRPr sz="900">
                <a:solidFill>
                  <a:srgbClr val="60738A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0738A"/>
                </a:solidFill>
                <a:latin typeface="Arial"/>
                <a:ea typeface="Arial"/>
                <a:cs typeface="Arial"/>
              </a:rPr>
              <a:t>Trabajo final · Arquitectura de Software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38BD651-A957-4942-812A-E277CD421E45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808" lnSpcReduction="10000"/>
          </a:bodyPr>
          <a:lstStyle/>
          <a:p>
            <a:pPr>
              <a:defRPr sz="975" b="1">
                <a:solidFill>
                  <a:srgbClr val="60738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738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6513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16C7C8"/>
                </a:solidFill>
              </a:rPr>
              <a:t>05 · CONFIABILIDAD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324A"/>
                </a:solidFill>
              </a:rPr>
              <a:t>Outbox Pattern: la base de datos conserva la verdad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744200" y="5029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C9D5DE"/>
                </a:solidFill>
              </a:rPr>
              <a:t>07</a:t>
            </a:r>
            <a:endParaRPr lang="en-US" sz="3400" dirty="0"/>
          </a:p>
        </p:txBody>
      </p:sp>
      <p:pic>
        <p:nvPicPr>
          <p:cNvPr id="5" name="Image 0" descr="/mnt/data/generated_image_2685216D4617_03.png"/>
          <p:cNvPicPr>
            <a:picLocks noChangeAspect="1"/>
          </p:cNvPicPr>
          <p:nvPr/>
        </p:nvPicPr>
        <p:blipFill>
          <a:blip r:embed="rId3"/>
          <a:srcRect l="14762" r="14762"/>
          <a:stretch/>
        </p:blipFill>
        <p:spPr>
          <a:xfrm>
            <a:off x="6537960" y="1463040"/>
            <a:ext cx="5074920" cy="4800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600200"/>
            <a:ext cx="438912" cy="438912"/>
          </a:xfrm>
          <a:prstGeom prst="ellipse">
            <a:avLst/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4"/>
          <p:cNvSpPr/>
          <p:nvPr/>
        </p:nvSpPr>
        <p:spPr>
          <a:xfrm>
            <a:off x="685800" y="170992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325880" y="15819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4A"/>
                </a:solidFill>
              </a:rPr>
              <a:t>Transacción única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25880" y="1911096"/>
            <a:ext cx="4251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7083"/>
                </a:solidFill>
              </a:rPr>
              <a:t>Solicitud + evento OUTBOX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05256" y="2057400"/>
            <a:ext cx="1" cy="621792"/>
          </a:xfrm>
          <a:prstGeom prst="line">
            <a:avLst/>
          </a:prstGeom>
          <a:noFill/>
          <a:ln w="25400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Shape 8"/>
          <p:cNvSpPr/>
          <p:nvPr/>
        </p:nvSpPr>
        <p:spPr>
          <a:xfrm>
            <a:off x="685800" y="2679192"/>
            <a:ext cx="438912" cy="438912"/>
          </a:xfrm>
          <a:prstGeom prst="ellipse">
            <a:avLst/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9"/>
          <p:cNvSpPr/>
          <p:nvPr/>
        </p:nvSpPr>
        <p:spPr>
          <a:xfrm>
            <a:off x="685800" y="2788920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325880" y="266090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4A"/>
                </a:solidFill>
              </a:rPr>
              <a:t>Publicación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325880" y="2990088"/>
            <a:ext cx="4251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7083"/>
                </a:solidFill>
              </a:rPr>
              <a:t>Cada 100 ms hacia Kafka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05256" y="3136392"/>
            <a:ext cx="1" cy="621792"/>
          </a:xfrm>
          <a:prstGeom prst="line">
            <a:avLst/>
          </a:prstGeom>
          <a:noFill/>
          <a:ln w="25400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Shape 13"/>
          <p:cNvSpPr/>
          <p:nvPr/>
        </p:nvSpPr>
        <p:spPr>
          <a:xfrm>
            <a:off x="685800" y="3758184"/>
            <a:ext cx="438912" cy="438912"/>
          </a:xfrm>
          <a:prstGeom prst="ellipse">
            <a:avLst/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4"/>
          <p:cNvSpPr/>
          <p:nvPr/>
        </p:nvSpPr>
        <p:spPr>
          <a:xfrm>
            <a:off x="685800" y="3867912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325880" y="37398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4A"/>
                </a:solidFill>
              </a:rPr>
              <a:t>Consumo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325880" y="4069080"/>
            <a:ext cx="4251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7083"/>
                </a:solidFill>
              </a:rPr>
              <a:t>Deduplicación por ID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05256" y="4215384"/>
            <a:ext cx="1" cy="621792"/>
          </a:xfrm>
          <a:prstGeom prst="line">
            <a:avLst/>
          </a:prstGeom>
          <a:noFill/>
          <a:ln w="25400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Shape 18"/>
          <p:cNvSpPr/>
          <p:nvPr/>
        </p:nvSpPr>
        <p:spPr>
          <a:xfrm>
            <a:off x="685800" y="4837176"/>
            <a:ext cx="438912" cy="438912"/>
          </a:xfrm>
          <a:prstGeom prst="ellipse">
            <a:avLst/>
          </a:prstGeom>
          <a:solidFill>
            <a:srgbClr val="35C48D"/>
          </a:solidFill>
          <a:ln w="12700">
            <a:solidFill>
              <a:srgbClr val="35C48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Text 19"/>
          <p:cNvSpPr/>
          <p:nvPr/>
        </p:nvSpPr>
        <p:spPr>
          <a:xfrm>
            <a:off x="685800" y="4946904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325880" y="481888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4A"/>
                </a:solidFill>
              </a:rPr>
              <a:t>Resultado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25880" y="5148072"/>
            <a:ext cx="4251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7083"/>
                </a:solidFill>
              </a:rPr>
              <a:t>Entrega at-least-once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85800" y="5733288"/>
            <a:ext cx="5212080" cy="438912"/>
          </a:xfrm>
          <a:prstGeom prst="roundRect">
            <a:avLst>
              <a:gd name="adj" fmla="val 10417"/>
            </a:avLst>
          </a:prstGeom>
          <a:solidFill>
            <a:srgbClr val="DDF7EE"/>
          </a:solidFill>
          <a:ln w="12700">
            <a:solidFill>
              <a:srgbClr val="B7E8D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6" name="Text 23"/>
          <p:cNvSpPr/>
          <p:nvPr/>
        </p:nvSpPr>
        <p:spPr>
          <a:xfrm>
            <a:off x="932688" y="58613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97553"/>
                </a:solidFill>
              </a:rPr>
              <a:t>✓ Garantía operativa: no se pierde el evento entre persistencia y publicación.</a:t>
            </a:r>
            <a:endParaRPr lang="en-US" sz="11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194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C9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16C7C8"/>
                </a:solidFill>
              </a:rPr>
              <a:t>06 · SERVICIO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324A"/>
                </a:solidFill>
              </a:rPr>
              <a:t>Solicitud Service: registrar y exponer el ciclo inicial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744200" y="5029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C9D5DE"/>
                </a:solidFill>
              </a:rPr>
              <a:t>08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58368" y="1600200"/>
            <a:ext cx="37490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15240" dist="6350" dir="2700000" algn="bl" rotWithShape="0">
              <a:srgbClr val="2338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6" name="Shape 4"/>
          <p:cNvSpPr/>
          <p:nvPr/>
        </p:nvSpPr>
        <p:spPr>
          <a:xfrm>
            <a:off x="658368" y="1600200"/>
            <a:ext cx="73152" cy="3611880"/>
          </a:xfrm>
          <a:prstGeom prst="rect">
            <a:avLst/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4A"/>
                </a:solidFill>
              </a:rPr>
              <a:t>Responsabilidades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167128"/>
            <a:ext cx="3310128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 dirty="0">
                <a:solidFill>
                  <a:srgbClr val="5D7083"/>
                </a:solidFill>
              </a:rPr>
              <a:t>Crear solicitudes</a:t>
            </a:r>
            <a:endParaRPr lang="en-US" sz="1150" dirty="0"/>
          </a:p>
          <a:p>
            <a:r>
              <a:rPr lang="en-US" sz="1150" dirty="0">
                <a:solidFill>
                  <a:srgbClr val="5D7083"/>
                </a:solidFill>
              </a:rPr>
              <a:t>Consultar por identificador</a:t>
            </a:r>
            <a:endParaRPr lang="en-US" sz="1150" dirty="0"/>
          </a:p>
          <a:p>
            <a:r>
              <a:rPr lang="en-US" sz="1150" dirty="0">
                <a:solidFill>
                  <a:srgbClr val="5D7083"/>
                </a:solidFill>
              </a:rPr>
              <a:t>Listar solicitudes</a:t>
            </a:r>
            <a:endParaRPr lang="en-US" sz="1150" dirty="0"/>
          </a:p>
          <a:p>
            <a:r>
              <a:rPr lang="en-US" sz="1150" dirty="0">
                <a:solidFill>
                  <a:srgbClr val="5D7083"/>
                </a:solidFill>
              </a:rPr>
              <a:t>Publicar eventos a Kafka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0060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24A"/>
                </a:solidFill>
              </a:rPr>
              <a:t>Contrato HTTP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800600" y="2240280"/>
            <a:ext cx="914400" cy="320040"/>
          </a:xfrm>
          <a:prstGeom prst="roundRect">
            <a:avLst>
              <a:gd name="adj" fmla="val 22857"/>
            </a:avLst>
          </a:prstGeom>
          <a:solidFill>
            <a:srgbClr val="35C48D"/>
          </a:solidFill>
          <a:ln w="12700">
            <a:solidFill>
              <a:srgbClr val="35C48D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4873752" y="2318004"/>
            <a:ext cx="768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0" y="22860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4A"/>
                </a:solidFill>
              </a:rPr>
              <a:t>/solicitudes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961120" y="22860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7083"/>
                </a:solidFill>
              </a:rPr>
              <a:t>Crear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00600" y="2807208"/>
            <a:ext cx="6217920" cy="1"/>
          </a:xfrm>
          <a:prstGeom prst="line">
            <a:avLst/>
          </a:prstGeom>
          <a:noFill/>
          <a:ln w="12700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Shape 13"/>
          <p:cNvSpPr/>
          <p:nvPr/>
        </p:nvSpPr>
        <p:spPr>
          <a:xfrm>
            <a:off x="4800600" y="3200400"/>
            <a:ext cx="914400" cy="320040"/>
          </a:xfrm>
          <a:prstGeom prst="roundRect">
            <a:avLst>
              <a:gd name="adj" fmla="val 22857"/>
            </a:avLst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4873752" y="3278124"/>
            <a:ext cx="768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0" y="32461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4A"/>
                </a:solidFill>
              </a:rPr>
              <a:t>/solicitudes/{id}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961120" y="3246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7083"/>
                </a:solidFill>
              </a:rPr>
              <a:t>Obtener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00600" y="3767328"/>
            <a:ext cx="6217920" cy="1"/>
          </a:xfrm>
          <a:prstGeom prst="line">
            <a:avLst/>
          </a:prstGeom>
          <a:noFill/>
          <a:ln w="12700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Shape 18"/>
          <p:cNvSpPr/>
          <p:nvPr/>
        </p:nvSpPr>
        <p:spPr>
          <a:xfrm>
            <a:off x="4800600" y="4160520"/>
            <a:ext cx="914400" cy="320040"/>
          </a:xfrm>
          <a:prstGeom prst="roundRect">
            <a:avLst>
              <a:gd name="adj" fmla="val 22857"/>
            </a:avLst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4873752" y="4238244"/>
            <a:ext cx="768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0" y="42062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4A"/>
                </a:solidFill>
              </a:rPr>
              <a:t>/solicitudes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961120" y="42062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7083"/>
                </a:solidFill>
              </a:rPr>
              <a:t>Listar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00600" y="4727448"/>
            <a:ext cx="6217920" cy="1"/>
          </a:xfrm>
          <a:prstGeom prst="line">
            <a:avLst/>
          </a:prstGeom>
          <a:noFill/>
          <a:ln w="12700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Shape 23"/>
          <p:cNvSpPr/>
          <p:nvPr/>
        </p:nvSpPr>
        <p:spPr>
          <a:xfrm>
            <a:off x="4800600" y="5166360"/>
            <a:ext cx="6126480" cy="731520"/>
          </a:xfrm>
          <a:prstGeom prst="roundRect">
            <a:avLst>
              <a:gd name="adj" fmla="val 6250"/>
            </a:avLst>
          </a:prstGeom>
          <a:solidFill>
            <a:srgbClr val="071B33"/>
          </a:solidFill>
          <a:ln w="12700">
            <a:solidFill>
              <a:srgbClr val="071B3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6" name="Text 24"/>
          <p:cNvSpPr/>
          <p:nvPr/>
        </p:nvSpPr>
        <p:spPr>
          <a:xfrm>
            <a:off x="5074920" y="5422392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Entrada síncrona  →  persistencia  →  evento asíncrono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194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C9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16C7C8"/>
                </a:solidFill>
              </a:rPr>
              <a:t>07 · SERVICIO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324A"/>
                </a:solidFill>
              </a:rPr>
              <a:t>Evaluación Service: decidir sin duplicar efectos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744200" y="5029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C9D5DE"/>
                </a:solidFill>
              </a:rPr>
              <a:t>09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85800" y="1609344"/>
            <a:ext cx="384048" cy="320040"/>
          </a:xfrm>
          <a:prstGeom prst="roundRect">
            <a:avLst>
              <a:gd name="adj" fmla="val 22857"/>
            </a:avLst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758952" y="1687068"/>
            <a:ext cx="237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34440" y="1655064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24A"/>
                </a:solidFill>
              </a:rPr>
              <a:t>Consumir eventos Kafka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231136"/>
            <a:ext cx="384048" cy="320040"/>
          </a:xfrm>
          <a:prstGeom prst="roundRect">
            <a:avLst>
              <a:gd name="adj" fmla="val 22857"/>
            </a:avLst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758952" y="2308860"/>
            <a:ext cx="237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34440" y="227685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24A"/>
                </a:solidFill>
              </a:rPr>
              <a:t>Aplicar política de crédito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2852928"/>
            <a:ext cx="384048" cy="320040"/>
          </a:xfrm>
          <a:prstGeom prst="roundRect">
            <a:avLst>
              <a:gd name="adj" fmla="val 22857"/>
            </a:avLst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758952" y="2930652"/>
            <a:ext cx="237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34440" y="289864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24A"/>
                </a:solidFill>
              </a:rPr>
              <a:t>Persistir resultado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3474720"/>
            <a:ext cx="384048" cy="320040"/>
          </a:xfrm>
          <a:prstGeom prst="roundRect">
            <a:avLst>
              <a:gd name="adj" fmla="val 22857"/>
            </a:avLst>
          </a:prstGeom>
          <a:solidFill>
            <a:srgbClr val="35C48D"/>
          </a:solidFill>
          <a:ln w="12700">
            <a:solidFill>
              <a:srgbClr val="35C48D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758952" y="3552444"/>
            <a:ext cx="237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34440" y="352044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A"/>
                </a:solidFill>
              </a:rPr>
              <a:t>Garantizar idempotencia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4096512"/>
            <a:ext cx="384048" cy="320040"/>
          </a:xfrm>
          <a:prstGeom prst="roundRect">
            <a:avLst>
              <a:gd name="adj" fmla="val 22857"/>
            </a:avLst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758952" y="4174236"/>
            <a:ext cx="237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34440" y="414223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24A"/>
                </a:solidFill>
              </a:rPr>
              <a:t>Publicar a RabbitMQ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23560" y="160934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24A"/>
                </a:solidFill>
              </a:rPr>
              <a:t>Política de evaluación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623560" y="2148840"/>
            <a:ext cx="544068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5806440" y="231343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324A"/>
                </a:solidFill>
              </a:rPr>
              <a:t>≤ S/ 50 000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269480" y="231343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7083"/>
                </a:solidFill>
              </a:rPr>
              <a:t>≤ 12 meses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641080" y="2258568"/>
            <a:ext cx="2148840" cy="320040"/>
          </a:xfrm>
          <a:prstGeom prst="roundRect">
            <a:avLst>
              <a:gd name="adj" fmla="val 22857"/>
            </a:avLst>
          </a:prstGeom>
          <a:solidFill>
            <a:srgbClr val="35C48D"/>
          </a:solidFill>
          <a:ln w="12700">
            <a:solidFill>
              <a:srgbClr val="35C48D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8714232" y="2336292"/>
            <a:ext cx="2002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APROBADO · 8%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23560" y="2898648"/>
            <a:ext cx="544068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Text 25"/>
          <p:cNvSpPr/>
          <p:nvPr/>
        </p:nvSpPr>
        <p:spPr>
          <a:xfrm>
            <a:off x="5806440" y="306324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324A"/>
                </a:solidFill>
              </a:rPr>
              <a:t>≤ S/ 50 000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269480" y="306324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7083"/>
                </a:solidFill>
              </a:rPr>
              <a:t>≤ 24 meses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641080" y="3008376"/>
            <a:ext cx="2148840" cy="320040"/>
          </a:xfrm>
          <a:prstGeom prst="roundRect">
            <a:avLst>
              <a:gd name="adj" fmla="val 22857"/>
            </a:avLst>
          </a:prstGeom>
          <a:solidFill>
            <a:srgbClr val="35C48D"/>
          </a:solidFill>
          <a:ln w="12700">
            <a:solidFill>
              <a:srgbClr val="35C48D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0" name="Text 28"/>
          <p:cNvSpPr/>
          <p:nvPr/>
        </p:nvSpPr>
        <p:spPr>
          <a:xfrm>
            <a:off x="8714232" y="3086100"/>
            <a:ext cx="2002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APROBADO · 10%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623560" y="3648456"/>
            <a:ext cx="544068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Text 30"/>
          <p:cNvSpPr/>
          <p:nvPr/>
        </p:nvSpPr>
        <p:spPr>
          <a:xfrm>
            <a:off x="5806440" y="381304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324A"/>
                </a:solidFill>
              </a:rPr>
              <a:t>≤ S/ 50 000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269480" y="381304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7083"/>
                </a:solidFill>
              </a:rPr>
              <a:t>&gt; 24 meses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641080" y="3758184"/>
            <a:ext cx="2148840" cy="320040"/>
          </a:xfrm>
          <a:prstGeom prst="roundRect">
            <a:avLst>
              <a:gd name="adj" fmla="val 22857"/>
            </a:avLst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5" name="Text 33"/>
          <p:cNvSpPr/>
          <p:nvPr/>
        </p:nvSpPr>
        <p:spPr>
          <a:xfrm>
            <a:off x="8714232" y="3835908"/>
            <a:ext cx="2002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RECHAZADO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23560" y="4398264"/>
            <a:ext cx="544068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7" name="Text 35"/>
          <p:cNvSpPr/>
          <p:nvPr/>
        </p:nvSpPr>
        <p:spPr>
          <a:xfrm>
            <a:off x="5806440" y="456285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324A"/>
                </a:solidFill>
              </a:rPr>
              <a:t>&gt; S/ 50 000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269480" y="456285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7083"/>
                </a:solidFill>
              </a:rPr>
              <a:t>Cualquier plazo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641080" y="4507992"/>
            <a:ext cx="2148840" cy="320040"/>
          </a:xfrm>
          <a:prstGeom prst="roundRect">
            <a:avLst>
              <a:gd name="adj" fmla="val 22857"/>
            </a:avLst>
          </a:prstGeom>
          <a:solidFill>
            <a:srgbClr val="F4A640"/>
          </a:solidFill>
          <a:ln w="12700">
            <a:solidFill>
              <a:srgbClr val="F4A640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40" name="Text 38"/>
          <p:cNvSpPr/>
          <p:nvPr/>
        </p:nvSpPr>
        <p:spPr>
          <a:xfrm>
            <a:off x="8714232" y="4585716"/>
            <a:ext cx="2002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PENDIENTE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623560" y="544068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5EA6"/>
                </a:solidFill>
              </a:rPr>
              <a:t>Idempotencia = el mismo evento puede llegar más de una vez, pero el resultado se aplica una sola vez.</a:t>
            </a:r>
            <a:endParaRPr lang="en-US" sz="125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194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C9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16C7C8"/>
                </a:solidFill>
              </a:rPr>
              <a:t>08 · IDENTIDAD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324A"/>
                </a:solidFill>
              </a:rPr>
              <a:t>Auth Service: autenticación por capas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744200" y="5029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C9D5DE"/>
                </a:solidFill>
              </a:rPr>
              <a:t>10</a:t>
            </a:r>
            <a:endParaRPr lang="en-US" sz="3400" dirty="0"/>
          </a:p>
        </p:txBody>
      </p:sp>
      <p:pic>
        <p:nvPicPr>
          <p:cNvPr id="5" name="Image 0" descr="/mnt/data/generated_image_2685216D4617_04.png"/>
          <p:cNvPicPr>
            <a:picLocks noChangeAspect="1"/>
          </p:cNvPicPr>
          <p:nvPr/>
        </p:nvPicPr>
        <p:blipFill>
          <a:blip r:embed="rId3"/>
          <a:srcRect l="16349" r="16349"/>
          <a:stretch/>
        </p:blipFill>
        <p:spPr>
          <a:xfrm>
            <a:off x="6766560" y="1417320"/>
            <a:ext cx="4846320" cy="4800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" y="1600200"/>
            <a:ext cx="53492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4"/>
          <p:cNvSpPr/>
          <p:nvPr/>
        </p:nvSpPr>
        <p:spPr>
          <a:xfrm>
            <a:off x="914400" y="17830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A"/>
                </a:solidFill>
              </a:rPr>
              <a:t>JWT HS512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43400" y="1755648"/>
            <a:ext cx="1298448" cy="320040"/>
          </a:xfrm>
          <a:prstGeom prst="roundRect">
            <a:avLst>
              <a:gd name="adj" fmla="val 22857"/>
            </a:avLst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Text 6"/>
          <p:cNvSpPr/>
          <p:nvPr/>
        </p:nvSpPr>
        <p:spPr>
          <a:xfrm>
            <a:off x="4416552" y="1833372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Alta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8368" y="2441448"/>
            <a:ext cx="53492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/>
          <p:nvPr/>
        </p:nvSpPr>
        <p:spPr>
          <a:xfrm>
            <a:off x="914400" y="26243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A"/>
                </a:solidFill>
              </a:rPr>
              <a:t>TOTP MFA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43400" y="2596896"/>
            <a:ext cx="1298448" cy="320040"/>
          </a:xfrm>
          <a:prstGeom prst="roundRect">
            <a:avLst>
              <a:gd name="adj" fmla="val 22857"/>
            </a:avLst>
          </a:prstGeom>
          <a:solidFill>
            <a:srgbClr val="35C48D"/>
          </a:solidFill>
          <a:ln w="12700">
            <a:solidFill>
              <a:srgbClr val="35C48D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3" name="Text 10"/>
          <p:cNvSpPr/>
          <p:nvPr/>
        </p:nvSpPr>
        <p:spPr>
          <a:xfrm>
            <a:off x="4416552" y="2674620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Muy alta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58368" y="3282696"/>
            <a:ext cx="53492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2"/>
          <p:cNvSpPr/>
          <p:nvPr/>
        </p:nvSpPr>
        <p:spPr>
          <a:xfrm>
            <a:off x="914400" y="34655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A"/>
                </a:solidFill>
              </a:rPr>
              <a:t>OAuth2 Google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343400" y="3438144"/>
            <a:ext cx="1298448" cy="320040"/>
          </a:xfrm>
          <a:prstGeom prst="roundRect">
            <a:avLst>
              <a:gd name="adj" fmla="val 22857"/>
            </a:avLst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7" name="Text 14"/>
          <p:cNvSpPr/>
          <p:nvPr/>
        </p:nvSpPr>
        <p:spPr>
          <a:xfrm>
            <a:off x="4416552" y="3515868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Alta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58368" y="4123944"/>
            <a:ext cx="53492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6"/>
          <p:cNvSpPr/>
          <p:nvPr/>
        </p:nvSpPr>
        <p:spPr>
          <a:xfrm>
            <a:off x="914400" y="43068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A"/>
                </a:solidFill>
              </a:rPr>
              <a:t>OAuth2 GitHub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343400" y="4279392"/>
            <a:ext cx="1298448" cy="320040"/>
          </a:xfrm>
          <a:prstGeom prst="roundRect">
            <a:avLst>
              <a:gd name="adj" fmla="val 22857"/>
            </a:avLst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1" name="Text 18"/>
          <p:cNvSpPr/>
          <p:nvPr/>
        </p:nvSpPr>
        <p:spPr>
          <a:xfrm>
            <a:off x="4416552" y="4357116"/>
            <a:ext cx="1152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Alta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85800" y="52578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7083"/>
                </a:solidFill>
              </a:rPr>
              <a:t>Capacidades: registro, login local, MFA TOTP, OAuth2 y validación de tokens.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194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C9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E5157C01-FD9C-4687-B1E6-8856933D37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B1F3A"/>
          </a:solidFill>
          <a:ln w="0"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E4506C6-9A9A-4C68-96D6-BA5ABF08039A}"/>
              </a:ext>
            </a:extLst>
          </p:cNvPr>
          <p:cNvSpPr>
            <a:spLocks noGrp="1"/>
          </p:cNvSpPr>
          <p:nvPr/>
        </p:nvSpPr>
        <p:spPr>
          <a:xfrm>
            <a:off x="666750" y="476250"/>
            <a:ext cx="10287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7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Autenticación y seguridad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6468FD0-F14A-4FE4-B417-121E47F013D1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>
                <a:solidFill>
                  <a:srgbClr val="53657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3657B"/>
                </a:solidFill>
                <a:latin typeface="Arial"/>
                <a:ea typeface="Arial"/>
                <a:cs typeface="Arial"/>
              </a:rPr>
              <a:t>El auth-service mejorado combina credenciales locales, OAuth2, JWT y MFA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0F446DF5-DA71-4E58-A52B-F622B9D6E7D9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22C3E6"/>
          </a:solidFill>
          <a:ln w="0"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B7FF72B-BB10-4315-8FA2-1FF8A31DF3EC}"/>
              </a:ext>
            </a:extLst>
          </p:cNvPr>
          <p:cNvSpPr>
            <a:spLocks noGrp="1"/>
          </p:cNvSpPr>
          <p:nvPr/>
        </p:nvSpPr>
        <p:spPr>
          <a:xfrm>
            <a:off x="666750" y="1905000"/>
            <a:ext cx="4095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278" lnSpcReduction="10000"/>
          </a:bodyPr>
          <a:lstStyle/>
          <a:p>
            <a:pPr>
              <a:defRPr sz="180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Registro y login local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E4320EF-D722-440F-919D-AB0A2359EE28}"/>
              </a:ext>
            </a:extLst>
          </p:cNvPr>
          <p:cNvSpPr>
            <a:spLocks noGrp="1"/>
          </p:cNvSpPr>
          <p:nvPr/>
        </p:nvSpPr>
        <p:spPr>
          <a:xfrm>
            <a:off x="666750" y="2333625"/>
            <a:ext cx="428625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75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33F"/>
                </a:solidFill>
                <a:latin typeface="Arial"/>
                <a:ea typeface="Arial"/>
                <a:cs typeface="Arial"/>
              </a:rPr>
              <a:t>POST /auth/register y POST /auth/login devuelven token de acceso, refreshToken y el usuario. Las contraseñas usan BCrypt.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877886E-F285-44EA-8689-C91B20057AF6}"/>
              </a:ext>
            </a:extLst>
          </p:cNvPr>
          <p:cNvSpPr>
            <a:spLocks noGrp="1"/>
          </p:cNvSpPr>
          <p:nvPr/>
        </p:nvSpPr>
        <p:spPr>
          <a:xfrm>
            <a:off x="6667500" y="1905000"/>
            <a:ext cx="4095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278" lnSpcReduction="10000"/>
          </a:bodyPr>
          <a:lstStyle/>
          <a:p>
            <a:pPr>
              <a:defRPr sz="1800" b="1">
                <a:solidFill>
                  <a:srgbClr val="1769E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9E0"/>
                </a:solidFill>
                <a:latin typeface="Arial"/>
                <a:ea typeface="Arial"/>
                <a:cs typeface="Arial"/>
              </a:rPr>
              <a:t>Google y GitHub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5DA62C3-C738-43BF-BAF3-EBC7C14CB363}"/>
              </a:ext>
            </a:extLst>
          </p:cNvPr>
          <p:cNvSpPr>
            <a:spLocks noGrp="1"/>
          </p:cNvSpPr>
          <p:nvPr/>
        </p:nvSpPr>
        <p:spPr>
          <a:xfrm>
            <a:off x="6667500" y="2333625"/>
            <a:ext cx="428625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75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33F"/>
                </a:solidFill>
                <a:latin typeface="Arial"/>
                <a:ea typeface="Arial"/>
                <a:cs typeface="Arial"/>
              </a:rPr>
              <a:t>El navegador inicia OAuth2 Authorization Code. Spring Security valida state y el servicio entrega un JWT propio al finalizar.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672543E-344F-4299-8331-E6C49E3D688B}"/>
              </a:ext>
            </a:extLst>
          </p:cNvPr>
          <p:cNvSpPr>
            <a:spLocks noGrp="1"/>
          </p:cNvSpPr>
          <p:nvPr/>
        </p:nvSpPr>
        <p:spPr>
          <a:xfrm>
            <a:off x="666750" y="3857625"/>
            <a:ext cx="10287000" cy="19050"/>
          </a:xfrm>
          <a:prstGeom prst="roundRect">
            <a:avLst>
              <a:gd name="adj" fmla="val 50000"/>
            </a:avLst>
          </a:prstGeom>
          <a:solidFill>
            <a:srgbClr val="D6E1EE"/>
          </a:solidFill>
          <a:ln w="0"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6FD22ED-8BCB-4C6A-8F64-B56B0869D6D8}"/>
              </a:ext>
            </a:extLst>
          </p:cNvPr>
          <p:cNvSpPr>
            <a:spLocks noGrp="1"/>
          </p:cNvSpPr>
          <p:nvPr/>
        </p:nvSpPr>
        <p:spPr>
          <a:xfrm>
            <a:off x="666750" y="4257675"/>
            <a:ext cx="1905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278" lnSpcReduction="10000"/>
          </a:bodyPr>
          <a:lstStyle/>
          <a:p>
            <a:pPr>
              <a:defRPr sz="18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MFA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F9CDE0D-04E1-4BBB-A4F7-8D65FE16A9E8}"/>
              </a:ext>
            </a:extLst>
          </p:cNvPr>
          <p:cNvSpPr>
            <a:spLocks noGrp="1"/>
          </p:cNvSpPr>
          <p:nvPr/>
        </p:nvSpPr>
        <p:spPr>
          <a:xfrm>
            <a:off x="666750" y="4667250"/>
            <a:ext cx="461962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132"/>
          </a:bodyPr>
          <a:lstStyle/>
          <a:p>
            <a:pPr>
              <a:defRPr sz="150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0233F"/>
                </a:solidFill>
                <a:latin typeface="Arial"/>
                <a:ea typeface="Arial"/>
                <a:cs typeface="Arial"/>
              </a:rPr>
              <a:t>El usuario registra un QR TOTP y confirma un código de seis dígitos antes de usar MFA en el login.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D2EC9FF-D3F0-43D8-BFB1-F3DCE46CA83E}"/>
              </a:ext>
            </a:extLst>
          </p:cNvPr>
          <p:cNvSpPr>
            <a:spLocks noGrp="1"/>
          </p:cNvSpPr>
          <p:nvPr/>
        </p:nvSpPr>
        <p:spPr>
          <a:xfrm>
            <a:off x="6667500" y="4257675"/>
            <a:ext cx="2476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278" lnSpcReduction="10000"/>
          </a:bodyPr>
          <a:lstStyle/>
          <a:p>
            <a:pPr>
              <a:defRPr sz="18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Límite actual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5369199-6CDF-41D9-8041-0BCCE86FBF71}"/>
              </a:ext>
            </a:extLst>
          </p:cNvPr>
          <p:cNvSpPr>
            <a:spLocks noGrp="1"/>
          </p:cNvSpPr>
          <p:nvPr/>
        </p:nvSpPr>
        <p:spPr>
          <a:xfrm>
            <a:off x="6667500" y="4667250"/>
            <a:ext cx="447675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0556" lnSpcReduction="20000"/>
          </a:bodyPr>
          <a:lstStyle/>
          <a:p>
            <a:pPr>
              <a:defRPr sz="150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0233F"/>
                </a:solidFill>
                <a:latin typeface="Arial"/>
                <a:ea typeface="Arial"/>
                <a:cs typeface="Arial"/>
              </a:rPr>
              <a:t>El gateway todavía no valida el JWT. El token viaja en Authorization, pero aún no controla el acceso a solicitudes y evaluaciones.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3AAD311-A254-4B4B-B271-F832697E0815}"/>
              </a:ext>
            </a:extLst>
          </p:cNvPr>
          <p:cNvSpPr>
            <a:spLocks noGrp="1"/>
          </p:cNvSpPr>
          <p:nvPr/>
        </p:nvSpPr>
        <p:spPr>
          <a:xfrm>
            <a:off x="666750" y="6448425"/>
            <a:ext cx="44767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111" lnSpcReduction="10000"/>
          </a:bodyPr>
          <a:lstStyle/>
          <a:p>
            <a:pPr>
              <a:defRPr sz="900">
                <a:solidFill>
                  <a:srgbClr val="60738A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0738A"/>
                </a:solidFill>
                <a:latin typeface="Arial"/>
                <a:ea typeface="Arial"/>
                <a:cs typeface="Arial"/>
              </a:rPr>
              <a:t>Trabajo final · Arquitectura de Software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87784E2-7AA4-4CB7-9209-F96000CA0DEF}"/>
              </a:ext>
            </a:extLst>
          </p:cNvPr>
          <p:cNvSpPr>
            <a:spLocks noGrp="1"/>
          </p:cNvSpPr>
          <p:nvPr/>
        </p:nvSpPr>
        <p:spPr>
          <a:xfrm>
            <a:off x="11049000" y="641985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808" lnSpcReduction="10000"/>
          </a:bodyPr>
          <a:lstStyle/>
          <a:p>
            <a:pPr>
              <a:defRPr sz="975" b="1">
                <a:solidFill>
                  <a:srgbClr val="60738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738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29846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16C7C8"/>
                </a:solidFill>
              </a:rPr>
              <a:t>09 · TECNOLOGÍA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324A"/>
                </a:solidFill>
              </a:rPr>
              <a:t>Stack moderno, mantenible y orientado a pruebas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744200" y="5029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C9D5DE"/>
                </a:solidFill>
              </a:rPr>
              <a:t>11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58368" y="1627632"/>
            <a:ext cx="2514600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10160" dist="3810" dir="2700000" algn="bl" rotWithShape="0">
              <a:srgbClr val="23384A">
                <a:alpha val="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841248" y="179222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A"/>
                </a:solidFill>
              </a:rPr>
              <a:t>Java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304288" y="2084832"/>
            <a:ext cx="658368" cy="320040"/>
          </a:xfrm>
          <a:prstGeom prst="roundRect">
            <a:avLst>
              <a:gd name="adj" fmla="val 22857"/>
            </a:avLst>
          </a:prstGeom>
          <a:solidFill>
            <a:srgbClr val="35C48D"/>
          </a:solidFill>
          <a:ln w="12700">
            <a:solidFill>
              <a:srgbClr val="35C48D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2377440" y="2162556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21 LTS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93008" y="1627632"/>
            <a:ext cx="2514600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10160" dist="3810" dir="2700000" algn="bl" rotWithShape="0">
              <a:srgbClr val="23384A">
                <a:alpha val="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3675888" y="179222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A"/>
                </a:solidFill>
              </a:rPr>
              <a:t>Spring Boot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38928" y="2084832"/>
            <a:ext cx="658368" cy="320040"/>
          </a:xfrm>
          <a:prstGeom prst="roundRect">
            <a:avLst>
              <a:gd name="adj" fmla="val 22857"/>
            </a:avLst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5212080" y="2162556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3.x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327648" y="1627632"/>
            <a:ext cx="2514600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10160" dist="3810" dir="2700000" algn="bl" rotWithShape="0">
              <a:srgbClr val="23384A">
                <a:alpha val="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6510528" y="179222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A"/>
                </a:solidFill>
              </a:rPr>
              <a:t>Gradle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73568" y="2084832"/>
            <a:ext cx="658368" cy="320040"/>
          </a:xfrm>
          <a:prstGeom prst="roundRect">
            <a:avLst>
              <a:gd name="adj" fmla="val 22857"/>
            </a:avLst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8046720" y="2162556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8.x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62288" y="1627632"/>
            <a:ext cx="2514600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10160" dist="3810" dir="2700000" algn="bl" rotWithShape="0">
              <a:srgbClr val="23384A">
                <a:alpha val="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9345168" y="179222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A"/>
                </a:solidFill>
              </a:rPr>
              <a:t>PostgreSQL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808208" y="2084832"/>
            <a:ext cx="658368" cy="320040"/>
          </a:xfrm>
          <a:prstGeom prst="roundRect">
            <a:avLst>
              <a:gd name="adj" fmla="val 22857"/>
            </a:avLst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10881360" y="2162556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15+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58368" y="2816352"/>
            <a:ext cx="2514600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10160" dist="3810" dir="2700000" algn="bl" rotWithShape="0">
              <a:srgbClr val="23384A">
                <a:alpha val="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841248" y="298094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A"/>
                </a:solidFill>
              </a:rPr>
              <a:t>Apache Kafka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304288" y="3273552"/>
            <a:ext cx="658368" cy="320040"/>
          </a:xfrm>
          <a:prstGeom prst="roundRect">
            <a:avLst>
              <a:gd name="adj" fmla="val 22857"/>
            </a:avLst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2377440" y="3351276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3.x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93008" y="2816352"/>
            <a:ext cx="2514600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10160" dist="3810" dir="2700000" algn="bl" rotWithShape="0">
              <a:srgbClr val="23384A">
                <a:alpha val="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6" name="Text 24"/>
          <p:cNvSpPr/>
          <p:nvPr/>
        </p:nvSpPr>
        <p:spPr>
          <a:xfrm>
            <a:off x="3675888" y="298094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A"/>
                </a:solidFill>
              </a:rPr>
              <a:t>RabbitMQ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138928" y="3273552"/>
            <a:ext cx="658368" cy="320040"/>
          </a:xfrm>
          <a:prstGeom prst="roundRect">
            <a:avLst>
              <a:gd name="adj" fmla="val 22857"/>
            </a:avLst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8" name="Text 26"/>
          <p:cNvSpPr/>
          <p:nvPr/>
        </p:nvSpPr>
        <p:spPr>
          <a:xfrm>
            <a:off x="5212080" y="3351276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3.x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27648" y="2816352"/>
            <a:ext cx="2514600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10160" dist="3810" dir="2700000" algn="bl" rotWithShape="0">
              <a:srgbClr val="23384A">
                <a:alpha val="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0" name="Text 28"/>
          <p:cNvSpPr/>
          <p:nvPr/>
        </p:nvSpPr>
        <p:spPr>
          <a:xfrm>
            <a:off x="6510528" y="298094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A"/>
                </a:solidFill>
              </a:rPr>
              <a:t>Docker Compose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973568" y="3273552"/>
            <a:ext cx="658368" cy="320040"/>
          </a:xfrm>
          <a:prstGeom prst="roundRect">
            <a:avLst>
              <a:gd name="adj" fmla="val 22857"/>
            </a:avLst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2" name="Text 30"/>
          <p:cNvSpPr/>
          <p:nvPr/>
        </p:nvSpPr>
        <p:spPr>
          <a:xfrm>
            <a:off x="8046720" y="3351276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2.x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58368" y="416052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15240" dist="6350" dir="2700000" algn="bl" rotWithShape="0">
              <a:srgbClr val="2338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4" name="Shape 32"/>
          <p:cNvSpPr/>
          <p:nvPr/>
        </p:nvSpPr>
        <p:spPr>
          <a:xfrm>
            <a:off x="658368" y="4160520"/>
            <a:ext cx="73152" cy="1234440"/>
          </a:xfrm>
          <a:prstGeom prst="rect">
            <a:avLst/>
          </a:prstGeom>
          <a:solidFill>
            <a:srgbClr val="16C7C8"/>
          </a:solidFill>
          <a:ln w="12700">
            <a:solidFill>
              <a:srgbClr val="16C7C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5" name="Text 33"/>
          <p:cNvSpPr/>
          <p:nvPr/>
        </p:nvSpPr>
        <p:spPr>
          <a:xfrm>
            <a:off x="914400" y="4343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4A"/>
                </a:solidFill>
              </a:rPr>
              <a:t>Frontend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14400" y="4727448"/>
            <a:ext cx="299008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7083"/>
                </a:solidFill>
              </a:rPr>
              <a:t>Vite + React · puerto 5173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389120" y="416052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15240" dist="6350" dir="2700000" algn="bl" rotWithShape="0">
              <a:srgbClr val="2338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8" name="Shape 36"/>
          <p:cNvSpPr/>
          <p:nvPr/>
        </p:nvSpPr>
        <p:spPr>
          <a:xfrm>
            <a:off x="4389120" y="4160520"/>
            <a:ext cx="73152" cy="1234440"/>
          </a:xfrm>
          <a:prstGeom prst="rect">
            <a:avLst/>
          </a:prstGeom>
          <a:solidFill>
            <a:srgbClr val="35C48D"/>
          </a:solidFill>
          <a:ln w="12700">
            <a:solidFill>
              <a:srgbClr val="35C48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9" name="Text 37"/>
          <p:cNvSpPr/>
          <p:nvPr/>
        </p:nvSpPr>
        <p:spPr>
          <a:xfrm>
            <a:off x="4645152" y="4343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4A"/>
                </a:solidFill>
              </a:rPr>
              <a:t>Testing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645152" y="4727448"/>
            <a:ext cx="299008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7083"/>
                </a:solidFill>
              </a:rPr>
              <a:t>JUnit 5 · Mockito · TestContainers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8119872" y="416052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15240" dist="6350" dir="2700000" algn="bl" rotWithShape="0">
              <a:srgbClr val="2338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42" name="Shape 40"/>
          <p:cNvSpPr/>
          <p:nvPr/>
        </p:nvSpPr>
        <p:spPr>
          <a:xfrm>
            <a:off x="8119872" y="4160520"/>
            <a:ext cx="73152" cy="1234440"/>
          </a:xfrm>
          <a:prstGeom prst="rect">
            <a:avLst/>
          </a:prstGeom>
          <a:solidFill>
            <a:srgbClr val="F4A640"/>
          </a:solidFill>
          <a:ln w="12700">
            <a:solidFill>
              <a:srgbClr val="F4A64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3" name="Text 41"/>
          <p:cNvSpPr/>
          <p:nvPr/>
        </p:nvSpPr>
        <p:spPr>
          <a:xfrm>
            <a:off x="8375904" y="4343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4A"/>
                </a:solidFill>
              </a:rPr>
              <a:t>Monitoring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375904" y="4727448"/>
            <a:ext cx="299008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7083"/>
                </a:solidFill>
              </a:rPr>
              <a:t>Prometheus</a:t>
            </a:r>
            <a:endParaRPr lang="en-US" sz="115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194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C9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16C7C8"/>
                </a:solidFill>
              </a:rPr>
              <a:t>10 · OPERACIÓN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324A"/>
                </a:solidFill>
              </a:rPr>
              <a:t>Ejecución local reproducible con Docker Compose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744200" y="5029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C9D5DE"/>
                </a:solidFill>
              </a:rPr>
              <a:t>12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58368" y="1572768"/>
            <a:ext cx="402336" cy="402336"/>
          </a:xfrm>
          <a:prstGeom prst="ellipse">
            <a:avLst/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658368" y="166420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80160" y="1645920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24A"/>
                </a:solidFill>
              </a:rPr>
              <a:t>Copy-Item .env.example .env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58368" y="2231136"/>
            <a:ext cx="402336" cy="402336"/>
          </a:xfrm>
          <a:prstGeom prst="ellipse">
            <a:avLst/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658368" y="2322576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80160" y="2304288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24A"/>
                </a:solidFill>
              </a:rPr>
              <a:t>Generar JWT_SECRET seguro (64 bytes)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58368" y="2889504"/>
            <a:ext cx="402336" cy="402336"/>
          </a:xfrm>
          <a:prstGeom prst="ellipse">
            <a:avLst/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658368" y="2980944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80160" y="2962656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4A"/>
                </a:solidFill>
              </a:rPr>
              <a:t>docker compose up --build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58368" y="3547872"/>
            <a:ext cx="402336" cy="402336"/>
          </a:xfrm>
          <a:prstGeom prst="ellipse">
            <a:avLst/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658368" y="363931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80160" y="3621024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24A"/>
                </a:solidFill>
              </a:rPr>
              <a:t>Esperar aproximadamente 30 segundos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126480" y="15727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24A"/>
                </a:solidFill>
              </a:rPr>
              <a:t>Puntos de acceso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126480" y="2103120"/>
            <a:ext cx="5074920" cy="521208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6327648" y="225856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324A"/>
                </a:solidFill>
              </a:rPr>
              <a:t>API Gateway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882128" y="2203704"/>
            <a:ext cx="960120" cy="320040"/>
          </a:xfrm>
          <a:prstGeom prst="roundRect">
            <a:avLst>
              <a:gd name="adj" fmla="val 22857"/>
            </a:avLst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7955280" y="2281428"/>
            <a:ext cx="8138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8080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070848" y="224942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D7083"/>
                </a:solidFill>
              </a:rPr>
              <a:t>http://localhost:8080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2816352"/>
            <a:ext cx="5074920" cy="521208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6327648" y="297180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324A"/>
                </a:solidFill>
              </a:rPr>
              <a:t>Frontend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882128" y="2916936"/>
            <a:ext cx="960120" cy="320040"/>
          </a:xfrm>
          <a:prstGeom prst="roundRect">
            <a:avLst>
              <a:gd name="adj" fmla="val 22857"/>
            </a:avLst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6" name="Text 24"/>
          <p:cNvSpPr/>
          <p:nvPr/>
        </p:nvSpPr>
        <p:spPr>
          <a:xfrm>
            <a:off x="7955280" y="2994660"/>
            <a:ext cx="8138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5173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070848" y="29626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D7083"/>
                </a:solidFill>
              </a:rPr>
              <a:t>http://localhost:5173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3529584"/>
            <a:ext cx="5074920" cy="521208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Text 27"/>
          <p:cNvSpPr/>
          <p:nvPr/>
        </p:nvSpPr>
        <p:spPr>
          <a:xfrm>
            <a:off x="6327648" y="368503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324A"/>
                </a:solidFill>
              </a:rPr>
              <a:t>RabbitMQ UI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882128" y="3630168"/>
            <a:ext cx="960120" cy="320040"/>
          </a:xfrm>
          <a:prstGeom prst="roundRect">
            <a:avLst>
              <a:gd name="adj" fmla="val 22857"/>
            </a:avLst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1" name="Text 29"/>
          <p:cNvSpPr/>
          <p:nvPr/>
        </p:nvSpPr>
        <p:spPr>
          <a:xfrm>
            <a:off x="7955280" y="3707892"/>
            <a:ext cx="8138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15672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070848" y="36758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D7083"/>
                </a:solidFill>
              </a:rPr>
              <a:t>http://localhost:15672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26480" y="4242816"/>
            <a:ext cx="5074920" cy="521208"/>
          </a:xfrm>
          <a:prstGeom prst="roundRect">
            <a:avLst>
              <a:gd name="adj" fmla="val 7018"/>
            </a:avLst>
          </a:prstGeom>
          <a:solidFill>
            <a:srgbClr val="E9EEF3"/>
          </a:solidFill>
          <a:ln w="12700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4" name="Text 32"/>
          <p:cNvSpPr/>
          <p:nvPr/>
        </p:nvSpPr>
        <p:spPr>
          <a:xfrm>
            <a:off x="6327648" y="439826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324A"/>
                </a:solidFill>
              </a:rPr>
              <a:t>Servicios internos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882128" y="4343400"/>
            <a:ext cx="960120" cy="320040"/>
          </a:xfrm>
          <a:prstGeom prst="roundRect">
            <a:avLst>
              <a:gd name="adj" fmla="val 22857"/>
            </a:avLst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6" name="Text 34"/>
          <p:cNvSpPr/>
          <p:nvPr/>
        </p:nvSpPr>
        <p:spPr>
          <a:xfrm>
            <a:off x="7955280" y="4421124"/>
            <a:ext cx="8138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8081–8083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070848" y="43891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D7083"/>
                </a:solidFill>
              </a:rPr>
              <a:t>Red Docker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58368" y="4983480"/>
            <a:ext cx="10543032" cy="804672"/>
          </a:xfrm>
          <a:prstGeom prst="roundRect">
            <a:avLst>
              <a:gd name="adj" fmla="val 5682"/>
            </a:avLst>
          </a:prstGeom>
          <a:solidFill>
            <a:srgbClr val="071B33"/>
          </a:solidFill>
          <a:ln w="12700">
            <a:solidFill>
              <a:srgbClr val="071B3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9" name="Text 37"/>
          <p:cNvSpPr/>
          <p:nvPr/>
        </p:nvSpPr>
        <p:spPr>
          <a:xfrm>
            <a:off x="1005840" y="5266944"/>
            <a:ext cx="982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Objetivo operativo: levantar infraestructura y servicios con un único comando reproducible.</a:t>
            </a:r>
            <a:endParaRPr lang="en-US" sz="15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194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C9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16C7C8"/>
                </a:solidFill>
              </a:rPr>
              <a:t>11 · CALIDAD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324A"/>
                </a:solidFill>
              </a:rPr>
              <a:t>Testing en tres niveles: rápido, integrado y observable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744200" y="5029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C9D5DE"/>
                </a:solidFill>
              </a:rPr>
              <a:t>13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58368" y="1627632"/>
            <a:ext cx="342900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12700" dist="5080" dir="2700000" algn="bl" rotWithShape="0">
              <a:srgbClr val="2338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6" name="Shape 4"/>
          <p:cNvSpPr/>
          <p:nvPr/>
        </p:nvSpPr>
        <p:spPr>
          <a:xfrm>
            <a:off x="886968" y="1901952"/>
            <a:ext cx="1325880" cy="320040"/>
          </a:xfrm>
          <a:prstGeom prst="roundRect">
            <a:avLst>
              <a:gd name="adj" fmla="val 22857"/>
            </a:avLst>
          </a:prstGeom>
          <a:solidFill>
            <a:srgbClr val="0D5EA6"/>
          </a:solidFill>
          <a:ln w="12700">
            <a:solidFill>
              <a:srgbClr val="0D5EA6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960120" y="1979676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UNITARIAS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6968" y="26517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4A"/>
                </a:solidFill>
              </a:rPr>
              <a:t>./gradlew.bat test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86968" y="36118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7083"/>
                </a:solidFill>
              </a:rPr>
              <a:t>Lógica aislada con JUnit 5 y Mockito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80560" y="1627632"/>
            <a:ext cx="342900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12700" dist="5080" dir="2700000" algn="bl" rotWithShape="0">
              <a:srgbClr val="2338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4709160" y="1901952"/>
            <a:ext cx="1325880" cy="320040"/>
          </a:xfrm>
          <a:prstGeom prst="roundRect">
            <a:avLst>
              <a:gd name="adj" fmla="val 22857"/>
            </a:avLst>
          </a:prstGeom>
          <a:solidFill>
            <a:srgbClr val="35C48D"/>
          </a:solidFill>
          <a:ln w="12700">
            <a:solidFill>
              <a:srgbClr val="35C48D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4782312" y="1979676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INTEGRACIÓN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09160" y="26517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4A"/>
                </a:solidFill>
              </a:rPr>
              <a:t>./gradlew.bat integrationTest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09160" y="36118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7083"/>
                </a:solidFill>
              </a:rPr>
              <a:t>Infraestructura realista con TestContainers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302752" y="1627632"/>
            <a:ext cx="342900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12700" dist="5080" dir="2700000" algn="bl" rotWithShape="0">
              <a:srgbClr val="23384A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6" name="Shape 14"/>
          <p:cNvSpPr/>
          <p:nvPr/>
        </p:nvSpPr>
        <p:spPr>
          <a:xfrm>
            <a:off x="8531352" y="1901952"/>
            <a:ext cx="1325880" cy="320040"/>
          </a:xfrm>
          <a:prstGeom prst="roundRect">
            <a:avLst>
              <a:gd name="adj" fmla="val 22857"/>
            </a:avLst>
          </a:prstGeom>
          <a:solidFill>
            <a:srgbClr val="F4A640"/>
          </a:solidFill>
          <a:ln w="12700">
            <a:solidFill>
              <a:srgbClr val="F4A640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8604504" y="1979676"/>
            <a:ext cx="11795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MANUALES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31352" y="26517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4A"/>
                </a:solidFill>
              </a:rPr>
              <a:t>POST /solicitudes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31352" y="36118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7083"/>
                </a:solidFill>
              </a:rPr>
              <a:t>Validación end-to-end desde PowerShell o web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5800" y="55321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4A"/>
                </a:solidFill>
              </a:rPr>
              <a:t>Criterio de éxito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560320" y="5532120"/>
            <a:ext cx="8549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5EA6"/>
                </a:solidFill>
              </a:rPr>
              <a:t>La solicitud atraviesa gateway, persistencia, evento, evaluación e inspección desde el frontend.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194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C9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16C7C8"/>
                </a:solidFill>
              </a:rPr>
              <a:t>12 · SEGURIDAD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324A"/>
                </a:solidFill>
              </a:rPr>
              <a:t>Controles implementados y brechas antes de producción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744200" y="5029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C9D5DE"/>
                </a:solidFill>
              </a:rPr>
              <a:t>14</a:t>
            </a:r>
            <a:endParaRPr lang="en-US" sz="3400" dirty="0"/>
          </a:p>
        </p:txBody>
      </p:sp>
      <p:pic>
        <p:nvPicPr>
          <p:cNvPr id="5" name="Image 0" descr="/mnt/data/generated_image_2685216D4617_04.png"/>
          <p:cNvPicPr>
            <a:picLocks noChangeAspect="1"/>
          </p:cNvPicPr>
          <p:nvPr/>
        </p:nvPicPr>
        <p:blipFill>
          <a:blip r:embed="rId3"/>
          <a:srcRect l="19579" r="19579"/>
          <a:stretch/>
        </p:blipFill>
        <p:spPr>
          <a:xfrm>
            <a:off x="7315200" y="1463040"/>
            <a:ext cx="4297680" cy="4709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16824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A"/>
                </a:solidFill>
              </a:rPr>
              <a:t>Secretos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103120" y="168249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7083"/>
                </a:solidFill>
              </a:rPr>
              <a:t>Variables de entorno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58368" y="2057400"/>
            <a:ext cx="4114800" cy="1"/>
          </a:xfrm>
          <a:prstGeom prst="line">
            <a:avLst/>
          </a:prstGeom>
          <a:noFill/>
          <a:ln w="12700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6"/>
          <p:cNvSpPr/>
          <p:nvPr/>
        </p:nvSpPr>
        <p:spPr>
          <a:xfrm>
            <a:off x="658368" y="226771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A"/>
                </a:solidFill>
              </a:rPr>
              <a:t>JWT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103120" y="226771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7083"/>
                </a:solidFill>
              </a:rPr>
              <a:t>HMAC HS512 · 64 bytes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58368" y="2642616"/>
            <a:ext cx="4114800" cy="1"/>
          </a:xfrm>
          <a:prstGeom prst="line">
            <a:avLst/>
          </a:prstGeom>
          <a:noFill/>
          <a:ln w="12700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9"/>
          <p:cNvSpPr/>
          <p:nvPr/>
        </p:nvSpPr>
        <p:spPr>
          <a:xfrm>
            <a:off x="658368" y="285292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A"/>
                </a:solidFill>
              </a:rPr>
              <a:t>Contraseñas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103120" y="285292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7083"/>
                </a:solidFill>
              </a:rPr>
              <a:t>BCrypt + salt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58368" y="3227832"/>
            <a:ext cx="4114800" cy="1"/>
          </a:xfrm>
          <a:prstGeom prst="line">
            <a:avLst/>
          </a:prstGeom>
          <a:noFill/>
          <a:ln w="12700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2"/>
          <p:cNvSpPr/>
          <p:nvPr/>
        </p:nvSpPr>
        <p:spPr>
          <a:xfrm>
            <a:off x="658368" y="343814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A"/>
                </a:solidFill>
              </a:rPr>
              <a:t>TOTP MFA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103120" y="3438144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7083"/>
                </a:solidFill>
              </a:rPr>
              <a:t>RFC 6238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58368" y="3813048"/>
            <a:ext cx="4114800" cy="1"/>
          </a:xfrm>
          <a:prstGeom prst="line">
            <a:avLst/>
          </a:prstGeom>
          <a:noFill/>
          <a:ln w="12700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5"/>
          <p:cNvSpPr/>
          <p:nvPr/>
        </p:nvSpPr>
        <p:spPr>
          <a:xfrm>
            <a:off x="658368" y="402336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A"/>
                </a:solidFill>
              </a:rPr>
              <a:t>OAuth2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103120" y="402336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7083"/>
                </a:solidFill>
              </a:rPr>
              <a:t>Authorization Code + PKCE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58368" y="4398264"/>
            <a:ext cx="4114800" cy="1"/>
          </a:xfrm>
          <a:prstGeom prst="line">
            <a:avLst/>
          </a:prstGeom>
          <a:noFill/>
          <a:ln w="12700">
            <a:solidFill>
              <a:srgbClr val="D9E3E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8"/>
          <p:cNvSpPr/>
          <p:nvPr/>
        </p:nvSpPr>
        <p:spPr>
          <a:xfrm>
            <a:off x="658368" y="4617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4A"/>
                </a:solidFill>
              </a:rPr>
              <a:t>Checklist de producción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658368" y="5093208"/>
            <a:ext cx="347472" cy="320040"/>
          </a:xfrm>
          <a:prstGeom prst="roundRect">
            <a:avLst>
              <a:gd name="adj" fmla="val 22857"/>
            </a:avLst>
          </a:prstGeom>
          <a:solidFill>
            <a:srgbClr val="35C48D"/>
          </a:solidFill>
          <a:ln w="12700">
            <a:solidFill>
              <a:srgbClr val="35C48D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3" name="Text 20"/>
          <p:cNvSpPr/>
          <p:nvPr/>
        </p:nvSpPr>
        <p:spPr>
          <a:xfrm>
            <a:off x="731520" y="5170932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15568" y="5166360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324A"/>
                </a:solidFill>
              </a:rPr>
              <a:t>JWT en Gateway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231136" y="5093208"/>
            <a:ext cx="347472" cy="320040"/>
          </a:xfrm>
          <a:prstGeom prst="roundRect">
            <a:avLst>
              <a:gd name="adj" fmla="val 22857"/>
            </a:avLst>
          </a:prstGeom>
          <a:solidFill>
            <a:srgbClr val="35C48D"/>
          </a:solidFill>
          <a:ln w="12700">
            <a:solidFill>
              <a:srgbClr val="35C48D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6" name="Text 23"/>
          <p:cNvSpPr/>
          <p:nvPr/>
        </p:nvSpPr>
        <p:spPr>
          <a:xfrm>
            <a:off x="2304288" y="5170932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2688336" y="5166360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324A"/>
                </a:solidFill>
              </a:rPr>
              <a:t>Rate limiting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803904" y="5093208"/>
            <a:ext cx="347472" cy="320040"/>
          </a:xfrm>
          <a:prstGeom prst="roundRect">
            <a:avLst>
              <a:gd name="adj" fmla="val 22857"/>
            </a:avLst>
          </a:prstGeom>
          <a:solidFill>
            <a:srgbClr val="35C48D"/>
          </a:solidFill>
          <a:ln w="12700">
            <a:solidFill>
              <a:srgbClr val="35C48D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9" name="Text 26"/>
          <p:cNvSpPr/>
          <p:nvPr/>
        </p:nvSpPr>
        <p:spPr>
          <a:xfrm>
            <a:off x="3877056" y="5170932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261104" y="5166360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324A"/>
                </a:solidFill>
              </a:rPr>
              <a:t>HTTPS/TLS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376672" y="5093208"/>
            <a:ext cx="347472" cy="320040"/>
          </a:xfrm>
          <a:prstGeom prst="roundRect">
            <a:avLst>
              <a:gd name="adj" fmla="val 22857"/>
            </a:avLst>
          </a:prstGeom>
          <a:solidFill>
            <a:srgbClr val="35C48D"/>
          </a:solidFill>
          <a:ln w="12700">
            <a:solidFill>
              <a:srgbClr val="35C48D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2" name="Text 29"/>
          <p:cNvSpPr/>
          <p:nvPr/>
        </p:nvSpPr>
        <p:spPr>
          <a:xfrm>
            <a:off x="5449824" y="5170932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833872" y="5166360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324A"/>
                </a:solidFill>
              </a:rPr>
              <a:t>Audit logging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658368" y="5660136"/>
            <a:ext cx="347472" cy="320040"/>
          </a:xfrm>
          <a:prstGeom prst="roundRect">
            <a:avLst>
              <a:gd name="adj" fmla="val 22857"/>
            </a:avLst>
          </a:prstGeom>
          <a:solidFill>
            <a:srgbClr val="35C48D"/>
          </a:solidFill>
          <a:ln w="12700">
            <a:solidFill>
              <a:srgbClr val="35C48D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5" name="Text 32"/>
          <p:cNvSpPr/>
          <p:nvPr/>
        </p:nvSpPr>
        <p:spPr>
          <a:xfrm>
            <a:off x="731520" y="5737860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15568" y="573328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324A"/>
                </a:solidFill>
              </a:rPr>
              <a:t>Rotación de secretos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2231136" y="5660136"/>
            <a:ext cx="347472" cy="320040"/>
          </a:xfrm>
          <a:prstGeom prst="roundRect">
            <a:avLst>
              <a:gd name="adj" fmla="val 22857"/>
            </a:avLst>
          </a:prstGeom>
          <a:solidFill>
            <a:srgbClr val="35C48D"/>
          </a:solidFill>
          <a:ln w="12700">
            <a:solidFill>
              <a:srgbClr val="35C48D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8" name="Text 35"/>
          <p:cNvSpPr/>
          <p:nvPr/>
        </p:nvSpPr>
        <p:spPr>
          <a:xfrm>
            <a:off x="2304288" y="5737860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2688336" y="573328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324A"/>
                </a:solidFill>
              </a:rPr>
              <a:t>CORS estricto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803904" y="5660136"/>
            <a:ext cx="347472" cy="320040"/>
          </a:xfrm>
          <a:prstGeom prst="roundRect">
            <a:avLst>
              <a:gd name="adj" fmla="val 22857"/>
            </a:avLst>
          </a:prstGeom>
          <a:solidFill>
            <a:srgbClr val="35C48D"/>
          </a:solidFill>
          <a:ln w="12700">
            <a:solidFill>
              <a:srgbClr val="35C48D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41" name="Text 38"/>
          <p:cNvSpPr/>
          <p:nvPr/>
        </p:nvSpPr>
        <p:spPr>
          <a:xfrm>
            <a:off x="3877056" y="5737860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4261104" y="573328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324A"/>
                </a:solidFill>
              </a:rPr>
              <a:t>CSRF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5376672" y="5660136"/>
            <a:ext cx="347472" cy="320040"/>
          </a:xfrm>
          <a:prstGeom prst="roundRect">
            <a:avLst>
              <a:gd name="adj" fmla="val 22857"/>
            </a:avLst>
          </a:prstGeom>
          <a:solidFill>
            <a:srgbClr val="35C48D"/>
          </a:solidFill>
          <a:ln w="12700">
            <a:solidFill>
              <a:srgbClr val="35C48D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44" name="Text 41"/>
          <p:cNvSpPr/>
          <p:nvPr/>
        </p:nvSpPr>
        <p:spPr>
          <a:xfrm>
            <a:off x="5449824" y="5737860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5833872" y="573328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324A"/>
                </a:solidFill>
              </a:rPr>
              <a:t>Validación robusta</a:t>
            </a:r>
            <a:endParaRPr lang="en-US" sz="95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194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C9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generated_image_2685216D4617_05.png"/>
          <p:cNvPicPr>
            <a:picLocks noChangeAspect="1"/>
          </p:cNvPicPr>
          <p:nvPr/>
        </p:nvPicPr>
        <p:blipFill>
          <a:blip r:embed="rId3"/>
          <a:srcRect l="23409" r="23409"/>
          <a:stretch/>
        </p:blipFill>
        <p:spPr>
          <a:xfrm>
            <a:off x="6720840" y="0"/>
            <a:ext cx="54708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172200" y="0"/>
            <a:ext cx="822960" cy="6858000"/>
          </a:xfrm>
          <a:prstGeom prst="rect">
            <a:avLst/>
          </a:prstGeom>
          <a:solidFill>
            <a:srgbClr val="071B33">
              <a:alpha val="88000"/>
            </a:srgbClr>
          </a:solidFill>
          <a:ln w="12700">
            <a:solidFill>
              <a:srgbClr val="071B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1"/>
          <p:cNvSpPr/>
          <p:nvPr/>
        </p:nvSpPr>
        <p:spPr>
          <a:xfrm>
            <a:off x="640080" y="5669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6C7C8"/>
                </a:solidFill>
              </a:rPr>
              <a:t>CONCLUSIONES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1024128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Una base sólida para evolucionar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58368" y="205740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C48D"/>
                </a:solidFill>
              </a:rPr>
              <a:t>✓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24128" y="2039112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EF5"/>
                </a:solidFill>
              </a:rPr>
              <a:t>Arquitectura desacoplada y escalable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249631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C48D"/>
                </a:solidFill>
              </a:rPr>
              <a:t>✓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24128" y="2478024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EF5"/>
                </a:solidFill>
              </a:rPr>
              <a:t>Mensajería confiable at-least-once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58368" y="293522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C48D"/>
                </a:solidFill>
              </a:rPr>
              <a:t>✓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24128" y="2916936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EF5"/>
                </a:solidFill>
              </a:rPr>
              <a:t>Datos independientes por servicio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58368" y="337413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C48D"/>
                </a:solidFill>
              </a:rPr>
              <a:t>✓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24128" y="3355848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EF5"/>
                </a:solidFill>
              </a:rPr>
              <a:t>Contratos versionados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58368" y="381304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C48D"/>
                </a:solidFill>
              </a:rPr>
              <a:t>✓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24128" y="3794760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EF5"/>
                </a:solidFill>
              </a:rPr>
              <a:t>Seguridad en múltiples capas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58368" y="425196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C48D"/>
                </a:solidFill>
              </a:rPr>
              <a:t>✓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24128" y="4233672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EF5"/>
                </a:solidFill>
              </a:rPr>
              <a:t>Deployment y testing automatizados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58368" y="489204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6C7C8"/>
                </a:solidFill>
              </a:rPr>
              <a:t>PRÓXIMOS PASOS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58368" y="5321808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Grafana + ELK  ·  Service Mesh  ·  Kubernetes  ·  Notificaciones  ·  App móvil  ·  Multi-región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7543800" y="53949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¿Preguntas?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1441</Words>
  <Application>Microsoft Office PowerPoint</Application>
  <PresentationFormat>Panorámica</PresentationFormat>
  <Paragraphs>370</Paragraphs>
  <Slides>18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1" baseType="lpstr">
      <vt:lpstr>Aptos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Proyecto académico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Crédito Distribuido</dc:title>
  <dc:subject>Trabajo final de Arquitectura de Software</dc:subject>
  <dc:creator>t51922</dc:creator>
  <cp:lastModifiedBy>t51922</cp:lastModifiedBy>
  <cp:revision>2</cp:revision>
  <dcterms:created xsi:type="dcterms:W3CDTF">2026-10-02T23:16:46Z</dcterms:created>
  <dcterms:modified xsi:type="dcterms:W3CDTF">2026-10-03T01:12:22Z</dcterms:modified>
</cp:coreProperties>
</file>